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3" r:id="rId36"/>
    <p:sldId id="289" r:id="rId37"/>
    <p:sldId id="290" r:id="rId38"/>
    <p:sldId id="292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67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08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976" y="8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6AEBB024-FA3A-2317-B139-05F4CB3DEF2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A86827F-A5D2-06BA-2EA3-65420038A877}"/>
              </a:ext>
            </a:extLst>
          </p:cNvPr>
          <p:cNvSpPr/>
          <p:nvPr userDrawn="1"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2B80A714-112A-9A9B-8A93-C6877192FAF7}"/>
              </a:ext>
            </a:extLst>
          </p:cNvPr>
          <p:cNvSpPr/>
          <p:nvPr userDrawn="1"/>
        </p:nvSpPr>
        <p:spPr>
          <a:xfrm>
            <a:off x="11739880" y="6422866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06903-3AA7-A0FA-32D2-A075800C7701}"/>
              </a:ext>
            </a:extLst>
          </p:cNvPr>
          <p:cNvSpPr txBox="1"/>
          <p:nvPr userDrawn="1"/>
        </p:nvSpPr>
        <p:spPr>
          <a:xfrm>
            <a:off x="11614997" y="6420406"/>
            <a:ext cx="49106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fld id="{C1FF6DA9-008F-8B48-92A6-B652298478BF}" type="slidenum">
              <a:rPr lang="en-US" altLang="ko-KR" sz="1600" b="1" smtClean="0">
                <a:solidFill>
                  <a:schemeClr val="bg1"/>
                </a:solidFill>
              </a:rPr>
              <a:pPr algn="ctr"/>
              <a:t>‹#›</a:t>
            </a:fld>
            <a:endParaRPr lang="en-US" altLang="ko-KR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40E14-1804-3892-480B-BA33AE01F9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04A288-6A5A-EE55-EE67-426A4293106F}"/>
              </a:ext>
            </a:extLst>
          </p:cNvPr>
          <p:cNvSpPr/>
          <p:nvPr userDrawn="1"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FC597CE-D570-3BCF-F2E3-D12982EE3AC6}"/>
              </a:ext>
            </a:extLst>
          </p:cNvPr>
          <p:cNvSpPr/>
          <p:nvPr userDrawn="1"/>
        </p:nvSpPr>
        <p:spPr>
          <a:xfrm>
            <a:off x="11739880" y="6422866"/>
            <a:ext cx="241300" cy="241300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676DFB-C674-6DFA-FFD6-956BBA456291}"/>
              </a:ext>
            </a:extLst>
          </p:cNvPr>
          <p:cNvSpPr txBox="1"/>
          <p:nvPr userDrawn="1"/>
        </p:nvSpPr>
        <p:spPr>
          <a:xfrm>
            <a:off x="11614997" y="6420406"/>
            <a:ext cx="49106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fld id="{C1FF6DA9-008F-8B48-92A6-B652298478BF}" type="slidenum">
              <a:rPr lang="en-US" altLang="ko-KR" sz="1600" b="1" smtClean="0">
                <a:solidFill>
                  <a:schemeClr val="bg1"/>
                </a:solidFill>
              </a:rPr>
              <a:pPr algn="ctr"/>
              <a:t>‹#›</a:t>
            </a:fld>
            <a:endParaRPr lang="en-US" altLang="ko-KR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40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BB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300" y="825500"/>
            <a:ext cx="7632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BB3D2"/>
                </a:solidFill>
                <a:latin typeface="Cascadia Mono"/>
              </a:rPr>
              <a:t>2026 AI Pilot Top Gun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270000"/>
            <a:ext cx="7632700" cy="21798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 dirty="0" err="1">
                <a:solidFill>
                  <a:srgbClr val="FFFFFF"/>
                </a:solidFill>
                <a:latin typeface="Malgun Gothic"/>
              </a:rPr>
              <a:t>나만의</a:t>
            </a:r>
            <a:r>
              <a:rPr sz="6000" b="1" i="0" dirty="0">
                <a:solidFill>
                  <a:srgbClr val="FFFFFF"/>
                </a:solidFill>
                <a:latin typeface="Malgun Gothic"/>
              </a:rPr>
              <a:t> AI </a:t>
            </a:r>
            <a:r>
              <a:rPr sz="6000" b="1" i="0" dirty="0" err="1">
                <a:solidFill>
                  <a:srgbClr val="FFFFFF"/>
                </a:solidFill>
                <a:latin typeface="Malgun Gothic"/>
              </a:rPr>
              <a:t>Pilot을</a:t>
            </a:r>
            <a:endParaRPr lang="ko-KR" altLang="en-US" sz="6000" b="1" i="0" dirty="0">
              <a:solidFill>
                <a:srgbClr val="FFFFFF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lang="ko-KR" altLang="en-US" sz="6000" b="1" i="0" dirty="0">
                <a:solidFill>
                  <a:srgbClr val="FFFFFF"/>
                </a:solidFill>
                <a:latin typeface="Malgun Gothic"/>
              </a:rPr>
              <a:t>실험하는 방법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6300" y="3937000"/>
            <a:ext cx="3429000" cy="50800"/>
          </a:xfrm>
          <a:prstGeom prst="rect">
            <a:avLst/>
          </a:prstGeom>
          <a:solidFill>
            <a:srgbClr val="2BB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86DDC8-2EDD-A741-8D59-3EE3DA4A9C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6028538"/>
            <a:ext cx="3123650" cy="5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1.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접근법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79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매뉴얼의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목적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8000" y="1460500"/>
            <a:ext cx="6255385" cy="477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2600" b="1" i="0" dirty="0" err="1">
                <a:solidFill>
                  <a:srgbClr val="1B2733"/>
                </a:solidFill>
                <a:latin typeface="Malgun Gothic"/>
              </a:rPr>
              <a:t>RLLib</a:t>
            </a:r>
            <a:r>
              <a:rPr lang="en-US" sz="2600" b="1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lang="ko-KR" altLang="en-US" sz="2600" b="1" i="0" dirty="0">
                <a:solidFill>
                  <a:srgbClr val="1B2733"/>
                </a:solidFill>
                <a:latin typeface="Malgun Gothic"/>
              </a:rPr>
              <a:t>기반 </a:t>
            </a:r>
            <a:r>
              <a:rPr sz="2600" b="1" i="0" dirty="0" err="1">
                <a:solidFill>
                  <a:srgbClr val="1B2733"/>
                </a:solidFill>
                <a:latin typeface="Malgun Gothic"/>
              </a:rPr>
              <a:t>실험</a:t>
            </a:r>
            <a:r>
              <a:rPr sz="2600" b="1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600" b="1" i="0" dirty="0" err="1">
                <a:solidFill>
                  <a:srgbClr val="1B2733"/>
                </a:solidFill>
                <a:latin typeface="Malgun Gothic"/>
              </a:rPr>
              <a:t>공통</a:t>
            </a:r>
            <a:r>
              <a:rPr sz="2600" b="1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600" b="1" i="0" dirty="0" err="1">
                <a:solidFill>
                  <a:srgbClr val="1B2733"/>
                </a:solidFill>
                <a:latin typeface="Malgun Gothic"/>
              </a:rPr>
              <a:t>플랫폼</a:t>
            </a:r>
            <a:r>
              <a:rPr lang="en-US" sz="2600" b="1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lang="ko-KR" altLang="en-US" sz="2600" b="1" i="0" dirty="0">
                <a:solidFill>
                  <a:srgbClr val="1B2733"/>
                </a:solidFill>
                <a:latin typeface="Malgun Gothic"/>
              </a:rPr>
              <a:t>사용 가이드</a:t>
            </a:r>
            <a:endParaRPr sz="2600" b="1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8000" y="2104038"/>
            <a:ext cx="6255385" cy="2998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학생은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1" i="0" dirty="0" err="1">
                <a:solidFill>
                  <a:srgbClr val="1B2733"/>
                </a:solidFill>
                <a:latin typeface="Malgun Gothic"/>
              </a:rPr>
              <a:t>보상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, </a:t>
            </a:r>
            <a:r>
              <a:rPr sz="1600" b="1" i="0" dirty="0" err="1">
                <a:solidFill>
                  <a:srgbClr val="1B2733"/>
                </a:solidFill>
                <a:latin typeface="Malgun Gothic"/>
              </a:rPr>
              <a:t>관측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, </a:t>
            </a:r>
            <a:r>
              <a:rPr sz="1600" b="1" i="0" dirty="0" err="1">
                <a:solidFill>
                  <a:srgbClr val="1B2733"/>
                </a:solidFill>
                <a:latin typeface="Malgun Gothic"/>
              </a:rPr>
              <a:t>커리큘럼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, </a:t>
            </a:r>
            <a:r>
              <a:rPr sz="1600" b="1" i="0" dirty="0">
                <a:solidFill>
                  <a:srgbClr val="1B2733"/>
                </a:solidFill>
                <a:latin typeface="Malgun Gothic"/>
              </a:rPr>
              <a:t>YAML </a:t>
            </a:r>
            <a:r>
              <a:rPr sz="1600" b="1" i="0" dirty="0" err="1">
                <a:solidFill>
                  <a:srgbClr val="1B2733"/>
                </a:solidFill>
                <a:latin typeface="Malgun Gothic"/>
              </a:rPr>
              <a:t>조건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을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자유롭게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설계합니다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공통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코드는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실행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계약과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기록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방식을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제공합니다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아이디어는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작게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돌리고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,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로그로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읽고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,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다음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가설로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1B2733"/>
                </a:solidFill>
                <a:latin typeface="Malgun Gothic"/>
              </a:rPr>
              <a:t>이어</a:t>
            </a:r>
            <a:r>
              <a:rPr lang="ko-KR" altLang="en-US" sz="1600" b="0" i="0" dirty="0">
                <a:solidFill>
                  <a:srgbClr val="1B2733"/>
                </a:solidFill>
                <a:latin typeface="Malgun Gothic"/>
              </a:rPr>
              <a:t>가는 방식을 권장합니다</a:t>
            </a:r>
            <a:r>
              <a:rPr sz="1600" b="0" i="0" dirty="0">
                <a:solidFill>
                  <a:srgbClr val="1B2733"/>
                </a:solidFill>
                <a:latin typeface="Malgun Gothic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90600" y="1460500"/>
            <a:ext cx="4584169" cy="2519389"/>
          </a:xfrm>
          <a:prstGeom prst="roundRect">
            <a:avLst>
              <a:gd name="adj" fmla="val 3913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500" y="1625600"/>
            <a:ext cx="4488815" cy="417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dirty="0" err="1">
                <a:solidFill>
                  <a:srgbClr val="2BB3D2"/>
                </a:solidFill>
                <a:latin typeface="Malgun Gothic"/>
              </a:rPr>
              <a:t>핵심</a:t>
            </a:r>
            <a:r>
              <a:rPr sz="2600" b="1" i="0" dirty="0">
                <a:solidFill>
                  <a:srgbClr val="2BB3D2"/>
                </a:solidFill>
                <a:latin typeface="Malgun Gothic"/>
              </a:rPr>
              <a:t> </a:t>
            </a:r>
            <a:r>
              <a:rPr sz="2600" b="1" i="0" dirty="0" err="1">
                <a:solidFill>
                  <a:srgbClr val="2BB3D2"/>
                </a:solidFill>
                <a:latin typeface="Malgun Gothic"/>
              </a:rPr>
              <a:t>규칙</a:t>
            </a:r>
            <a:r>
              <a:rPr sz="2600" b="1" i="0" dirty="0">
                <a:solidFill>
                  <a:srgbClr val="2BB3D2"/>
                </a:solidFill>
                <a:latin typeface="Malgun Gothic"/>
              </a:rPr>
              <a:t> 3개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500" y="2023255"/>
            <a:ext cx="1440000" cy="19050"/>
          </a:xfrm>
          <a:prstGeom prst="rect">
            <a:avLst/>
          </a:prstGeom>
          <a:solidFill>
            <a:srgbClr val="2BB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500" y="2159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2BB3D2"/>
                </a:solidFill>
                <a:latin typeface="Cascadia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4000" y="2159000"/>
            <a:ext cx="4222115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100" b="0" i="0" dirty="0">
                <a:solidFill>
                  <a:srgbClr val="FFFFFF"/>
                </a:solidFill>
                <a:latin typeface="Malgun Gothic"/>
              </a:rPr>
              <a:t>실행 위치와 런타임 자산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500" y="27305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BB3D2"/>
                </a:solidFill>
                <a:latin typeface="Cascadia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4000" y="2730500"/>
            <a:ext cx="4222115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 dirty="0" err="1">
                <a:solidFill>
                  <a:srgbClr val="FFFFFF"/>
                </a:solidFill>
                <a:latin typeface="Malgun Gothic"/>
              </a:rPr>
              <a:t>관측</a:t>
            </a:r>
            <a:r>
              <a:rPr sz="2100" b="0" i="0" dirty="0">
                <a:solidFill>
                  <a:srgbClr val="FFFFFF"/>
                </a:solidFill>
                <a:latin typeface="Malgun Gothic"/>
              </a:rPr>
              <a:t> mode/module </a:t>
            </a:r>
            <a:r>
              <a:rPr sz="2100" b="0" i="0" dirty="0" err="1">
                <a:solidFill>
                  <a:srgbClr val="FFFFFF"/>
                </a:solidFill>
                <a:latin typeface="Malgun Gothic"/>
              </a:rPr>
              <a:t>일치</a:t>
            </a:r>
            <a:endParaRPr sz="2100" b="0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6500" y="3302000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BB3D2"/>
                </a:solidFill>
                <a:latin typeface="Cascadia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4000" y="3302000"/>
            <a:ext cx="4222115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 dirty="0" err="1">
                <a:solidFill>
                  <a:srgbClr val="FFFFFF"/>
                </a:solidFill>
                <a:latin typeface="Malgun Gothic"/>
              </a:rPr>
              <a:t>bundle과</a:t>
            </a:r>
            <a:r>
              <a:rPr sz="210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100" b="0" i="0" dirty="0" err="1">
                <a:solidFill>
                  <a:srgbClr val="FFFFFF"/>
                </a:solidFill>
                <a:latin typeface="Malgun Gothic"/>
              </a:rPr>
              <a:t>관측</a:t>
            </a:r>
            <a:r>
              <a:rPr sz="210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100" b="0" i="0" dirty="0" err="1">
                <a:solidFill>
                  <a:srgbClr val="FFFFFF"/>
                </a:solidFill>
                <a:latin typeface="Malgun Gothic"/>
              </a:rPr>
              <a:t>차원</a:t>
            </a:r>
            <a:r>
              <a:rPr sz="210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100" b="0" i="0" dirty="0" err="1">
                <a:solidFill>
                  <a:srgbClr val="FFFFFF"/>
                </a:solidFill>
                <a:latin typeface="Malgun Gothic"/>
              </a:rPr>
              <a:t>호환성</a:t>
            </a:r>
            <a:endParaRPr sz="2100" b="0" i="0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1.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접근법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좋은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실험은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루프입니다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1940560" cy="889000"/>
          </a:xfrm>
          <a:prstGeom prst="roundRect">
            <a:avLst>
              <a:gd name="adj" fmla="val 10000"/>
            </a:avLst>
          </a:prstGeom>
          <a:solidFill>
            <a:srgbClr val="2BB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6100" y="1460500"/>
            <a:ext cx="1864360" cy="8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가설</a:t>
            </a:r>
            <a:endParaRPr sz="2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2060" y="1460500"/>
            <a:ext cx="2413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860" y="1460500"/>
            <a:ext cx="1940560" cy="889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4960" y="1460500"/>
            <a:ext cx="1864360" cy="8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 dirty="0">
                <a:solidFill>
                  <a:srgbClr val="FFFFFF"/>
                </a:solidFill>
                <a:latin typeface="Malgun Gothic"/>
              </a:rPr>
              <a:t>YAML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기록</a:t>
            </a:r>
            <a:endParaRPr sz="2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20920" y="1460500"/>
            <a:ext cx="2413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5720" y="1460500"/>
            <a:ext cx="1940560" cy="8890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3820" y="1460500"/>
            <a:ext cx="1864360" cy="8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짧은</a:t>
            </a:r>
            <a:r>
              <a:rPr sz="22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학습</a:t>
            </a:r>
            <a:endParaRPr sz="2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29780" y="1460500"/>
            <a:ext cx="2413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4580" y="1460500"/>
            <a:ext cx="1940560" cy="889000"/>
          </a:xfrm>
          <a:prstGeom prst="roundRect">
            <a:avLst>
              <a:gd name="adj" fmla="val 10000"/>
            </a:avLst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2680" y="1460500"/>
            <a:ext cx="1864360" cy="8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로그</a:t>
            </a:r>
            <a:r>
              <a:rPr sz="22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확인</a:t>
            </a:r>
            <a:endParaRPr sz="2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38640" y="1460500"/>
            <a:ext cx="2413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43440" y="1460500"/>
            <a:ext cx="1940560" cy="889000"/>
          </a:xfrm>
          <a:prstGeom prst="roundRect">
            <a:avLst>
              <a:gd name="adj" fmla="val 10000"/>
            </a:avLst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1540" y="1460500"/>
            <a:ext cx="1864360" cy="8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수정</a:t>
            </a:r>
            <a:endParaRPr sz="2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8000" y="2603499"/>
            <a:ext cx="3623733" cy="1533785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700" y="2717800"/>
            <a:ext cx="3344333" cy="1236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2BB3D2"/>
                </a:solidFill>
                <a:latin typeface="Malgun Gothic"/>
              </a:rPr>
              <a:t>작게</a:t>
            </a:r>
            <a:endParaRPr sz="2200" b="1" i="0" dirty="0">
              <a:solidFill>
                <a:srgbClr val="2BB3D2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lang="en-US" sz="20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0" dirty="0" err="1">
                <a:solidFill>
                  <a:srgbClr val="1B2733"/>
                </a:solidFill>
                <a:latin typeface="Malgun Gothic"/>
              </a:rPr>
              <a:t>가설</a:t>
            </a:r>
            <a:r>
              <a:rPr sz="2000" b="0" i="0" dirty="0">
                <a:solidFill>
                  <a:srgbClr val="1B2733"/>
                </a:solidFill>
                <a:latin typeface="Malgun Gothic"/>
              </a:rPr>
              <a:t> 1개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lang="en-US" sz="20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0" dirty="0" err="1">
                <a:solidFill>
                  <a:srgbClr val="1B2733"/>
                </a:solidFill>
                <a:latin typeface="Malgun Gothic"/>
              </a:rPr>
              <a:t>조건</a:t>
            </a:r>
            <a:r>
              <a:rPr sz="2000" b="0" i="0" dirty="0">
                <a:solidFill>
                  <a:srgbClr val="1B2733"/>
                </a:solidFill>
                <a:latin typeface="Malgun Gothic"/>
              </a:rPr>
              <a:t> 1개만 </a:t>
            </a:r>
            <a:r>
              <a:rPr sz="2000" b="0" i="0" dirty="0" err="1">
                <a:solidFill>
                  <a:srgbClr val="1B2733"/>
                </a:solidFill>
                <a:latin typeface="Malgun Gothic"/>
              </a:rPr>
              <a:t>변경</a:t>
            </a:r>
            <a:endParaRPr sz="20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84133" y="2603499"/>
            <a:ext cx="3623733" cy="1533785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23833" y="2717800"/>
            <a:ext cx="3344333" cy="1270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1C7293"/>
                </a:solidFill>
                <a:latin typeface="Malgun Gothic"/>
              </a:rPr>
              <a:t>기록되게</a:t>
            </a:r>
            <a:endParaRPr sz="2200" b="1" i="0" dirty="0">
              <a:solidFill>
                <a:srgbClr val="1C729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lang="en-US" sz="20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0" dirty="0" err="1">
                <a:solidFill>
                  <a:srgbClr val="1B2733"/>
                </a:solidFill>
                <a:latin typeface="Malgun Gothic"/>
              </a:rPr>
              <a:t>YAML로</a:t>
            </a:r>
            <a:r>
              <a:rPr sz="20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0" dirty="0" err="1">
                <a:solidFill>
                  <a:srgbClr val="1B2733"/>
                </a:solidFill>
                <a:latin typeface="Malgun Gothic"/>
              </a:rPr>
              <a:t>조건</a:t>
            </a:r>
            <a:r>
              <a:rPr sz="20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0" dirty="0" err="1">
                <a:solidFill>
                  <a:srgbClr val="1B2733"/>
                </a:solidFill>
                <a:latin typeface="Malgun Gothic"/>
              </a:rPr>
              <a:t>보존</a:t>
            </a:r>
            <a:endParaRPr sz="20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sz="2000" b="0" i="0" dirty="0">
                <a:solidFill>
                  <a:srgbClr val="1B2733"/>
                </a:solidFill>
                <a:latin typeface="Malgun Gothic"/>
              </a:rPr>
              <a:t>output.name + tag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0267" y="2603499"/>
            <a:ext cx="3623733" cy="1533785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9967" y="2717800"/>
            <a:ext cx="3344333" cy="1236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065A82"/>
                </a:solidFill>
                <a:latin typeface="Malgun Gothic"/>
              </a:rPr>
              <a:t>읽히게</a:t>
            </a:r>
            <a:endParaRPr sz="2200" b="1" i="0" dirty="0">
              <a:solidFill>
                <a:srgbClr val="065A82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lang="en-US" sz="20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0" dirty="0" err="1">
                <a:solidFill>
                  <a:srgbClr val="1B2733"/>
                </a:solidFill>
                <a:latin typeface="Malgun Gothic"/>
              </a:rPr>
              <a:t>dashboard에서</a:t>
            </a:r>
            <a:r>
              <a:rPr sz="20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0" dirty="0" err="1">
                <a:solidFill>
                  <a:srgbClr val="1B2733"/>
                </a:solidFill>
                <a:latin typeface="Malgun Gothic"/>
              </a:rPr>
              <a:t>비교</a:t>
            </a:r>
            <a:endParaRPr sz="20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lang="en-US" sz="20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0" dirty="0" err="1">
                <a:solidFill>
                  <a:srgbClr val="1B2733"/>
                </a:solidFill>
                <a:latin typeface="Malgun Gothic"/>
              </a:rPr>
              <a:t>config.json까지</a:t>
            </a:r>
            <a:r>
              <a:rPr sz="20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0" dirty="0" err="1">
                <a:solidFill>
                  <a:srgbClr val="1B2733"/>
                </a:solidFill>
                <a:latin typeface="Malgun Gothic"/>
              </a:rPr>
              <a:t>같이</a:t>
            </a:r>
            <a:endParaRPr sz="2000" b="0" i="0" dirty="0">
              <a:solidFill>
                <a:srgbClr val="1B273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1.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접근법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관찰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가능한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지표는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결과의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이유를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읽습니다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499"/>
            <a:ext cx="2689225" cy="1702425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" y="1574800"/>
            <a:ext cx="2409825" cy="135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 dirty="0" err="1">
                <a:solidFill>
                  <a:srgbClr val="1F8A5F"/>
                </a:solidFill>
                <a:latin typeface="Malgun Gothic"/>
              </a:rPr>
              <a:t>reward_mean</a:t>
            </a:r>
            <a:endParaRPr sz="2100" b="1" i="0" dirty="0">
              <a:solidFill>
                <a:srgbClr val="1F8A5F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에피소드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평균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reward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추세로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학습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안정성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확인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36925" y="1460499"/>
            <a:ext cx="2689225" cy="1702425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6625" y="1574800"/>
            <a:ext cx="2409825" cy="135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96167"/>
                </a:solidFill>
                <a:latin typeface="Malgun Gothic"/>
              </a:rPr>
              <a:t>crash_rate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추락 발생률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보상 과격도와 함께 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5850" y="1460499"/>
            <a:ext cx="2689225" cy="1702425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5550" y="1574800"/>
            <a:ext cx="2409825" cy="135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C7293"/>
                </a:solidFill>
                <a:latin typeface="Malgun Gothic"/>
              </a:rPr>
              <a:t>ep_min_distance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에피소드 내 최소 접근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접근/회피 행동 진단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4775" y="1460499"/>
            <a:ext cx="2689225" cy="1702425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34475" y="1574800"/>
            <a:ext cx="2409825" cy="135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065A82"/>
                </a:solidFill>
                <a:latin typeface="Malgun Gothic"/>
              </a:rPr>
              <a:t>ep_wez_steps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WEZ 안에서 머문 step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교전 점유 시간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000" y="3275975"/>
            <a:ext cx="11176000" cy="635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100" y="3275975"/>
            <a:ext cx="1084580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Malgun Gothic"/>
              </a:rPr>
              <a:t>승률 하나로 판단하지 않습니다. 왜 그렇게 됐는지를 metric으로 같이 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2.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실행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준비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82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Release </a:t>
            </a:r>
            <a:r>
              <a:rPr lang="ko-KR" altLang="en-US" sz="3000" b="1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폴더를 루트로 사용합니다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5754053" cy="4737096"/>
          </a:xfrm>
          <a:prstGeom prst="roundRect">
            <a:avLst>
              <a:gd name="adj" fmla="val 2413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" y="1587500"/>
            <a:ext cx="5449253" cy="44757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800" b="0" i="0" dirty="0">
                <a:solidFill>
                  <a:srgbClr val="E6EDF3"/>
                </a:solidFill>
                <a:latin typeface="Cascadia Mono"/>
              </a:rPr>
              <a:t>Release/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800" b="0" i="0" dirty="0">
                <a:solidFill>
                  <a:srgbClr val="E6EDF3"/>
                </a:solidFill>
                <a:latin typeface="Cascadia Mono"/>
              </a:rPr>
              <a:t>├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src</a:t>
            </a:r>
            <a:r>
              <a:rPr sz="1800" b="0" i="0" dirty="0">
                <a:solidFill>
                  <a:srgbClr val="E6EDF3"/>
                </a:solidFill>
                <a:latin typeface="Cascadia Mono"/>
              </a:rPr>
              <a:t>/dogfight/       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공통</a:t>
            </a:r>
            <a:r>
              <a:rPr sz="1800" b="0" i="0" dirty="0">
                <a:solidFill>
                  <a:srgbClr val="E6EDF3"/>
                </a:solidFill>
                <a:latin typeface="Cascadia Mono"/>
              </a:rPr>
              <a:t>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플랫폼</a:t>
            </a:r>
            <a:endParaRPr sz="18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800" b="0" i="0" dirty="0">
                <a:solidFill>
                  <a:srgbClr val="E6EDF3"/>
                </a:solidFill>
                <a:latin typeface="Cascadia Mono"/>
              </a:rPr>
              <a:t>├ student/            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학생</a:t>
            </a:r>
            <a:r>
              <a:rPr sz="1800" b="0" i="0" dirty="0">
                <a:solidFill>
                  <a:srgbClr val="E6EDF3"/>
                </a:solidFill>
                <a:latin typeface="Cascadia Mono"/>
              </a:rPr>
              <a:t>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작성</a:t>
            </a:r>
            <a:r>
              <a:rPr sz="1800" b="0" i="0" dirty="0">
                <a:solidFill>
                  <a:srgbClr val="E6EDF3"/>
                </a:solidFill>
                <a:latin typeface="Cascadia Mono"/>
              </a:rPr>
              <a:t>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템플릿</a:t>
            </a:r>
            <a:endParaRPr sz="18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800" b="0" i="0" dirty="0">
                <a:solidFill>
                  <a:srgbClr val="E6EDF3"/>
                </a:solidFill>
                <a:latin typeface="Cascadia Mono"/>
              </a:rPr>
              <a:t>├ experiments/         YAML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실험</a:t>
            </a:r>
            <a:r>
              <a:rPr sz="1800" b="0" i="0" dirty="0">
                <a:solidFill>
                  <a:srgbClr val="E6EDF3"/>
                </a:solidFill>
                <a:latin typeface="Cascadia Mono"/>
              </a:rPr>
              <a:t>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템플릿</a:t>
            </a:r>
            <a:endParaRPr sz="18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800" b="0" i="0" dirty="0">
                <a:solidFill>
                  <a:srgbClr val="E6EDF3"/>
                </a:solidFill>
                <a:latin typeface="Cascadia Mono"/>
              </a:rPr>
              <a:t>├ train_rllib.py      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단일</a:t>
            </a:r>
            <a:r>
              <a:rPr sz="1800" b="0" i="0" dirty="0">
                <a:solidFill>
                  <a:srgbClr val="E6EDF3"/>
                </a:solidFill>
                <a:latin typeface="Cascadia Mono"/>
              </a:rPr>
              <a:t>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학습</a:t>
            </a:r>
            <a:endParaRPr sz="18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800" b="0" i="0" dirty="0">
                <a:solidFill>
                  <a:srgbClr val="E6EDF3"/>
                </a:solidFill>
                <a:latin typeface="Cascadia Mono"/>
              </a:rPr>
              <a:t>├ train_curriculum.py 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커리큘럼</a:t>
            </a:r>
            <a:r>
              <a:rPr sz="1800" b="0" i="0" dirty="0">
                <a:solidFill>
                  <a:srgbClr val="E6EDF3"/>
                </a:solidFill>
                <a:latin typeface="Cascadia Mono"/>
              </a:rPr>
              <a:t> </a:t>
            </a:r>
            <a:r>
              <a:rPr sz="1800" b="0" i="0" dirty="0" err="1">
                <a:solidFill>
                  <a:srgbClr val="E6EDF3"/>
                </a:solidFill>
                <a:latin typeface="Cascadia Mono"/>
              </a:rPr>
              <a:t>학습</a:t>
            </a:r>
            <a:endParaRPr sz="18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800" b="0" i="0" dirty="0">
                <a:solidFill>
                  <a:srgbClr val="E6EDF3"/>
                </a:solidFill>
                <a:latin typeface="Cascadia Mono"/>
              </a:rPr>
              <a:t>├ run_local_dogfight.py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800" b="0" i="0" dirty="0">
                <a:solidFill>
                  <a:srgbClr val="E6EDF3"/>
                </a:solidFill>
                <a:latin typeface="Cascadia Mono"/>
              </a:rPr>
              <a:t>├ run_unreal_inference.py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800" b="0" i="0" dirty="0">
                <a:solidFill>
                  <a:srgbClr val="E6EDF3"/>
                </a:solidFill>
                <a:latin typeface="Cascadia Mono"/>
              </a:rPr>
              <a:t>└ DLL / Rule XML / aircraft / engine / 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7953" y="1460500"/>
            <a:ext cx="5206047" cy="144321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7653" y="1574799"/>
            <a:ext cx="4926647" cy="101811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1F8A5F"/>
                </a:solidFill>
                <a:latin typeface="Malgun Gothic"/>
              </a:rPr>
              <a:t>수정</a:t>
            </a:r>
            <a:r>
              <a:rPr sz="2200" b="1" i="0" dirty="0">
                <a:solidFill>
                  <a:srgbClr val="1F8A5F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1F8A5F"/>
                </a:solidFill>
                <a:latin typeface="Malgun Gothic"/>
              </a:rPr>
              <a:t>중심</a:t>
            </a:r>
            <a:endParaRPr sz="2200" b="1" i="0" dirty="0">
              <a:solidFill>
                <a:srgbClr val="1F8A5F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student/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experiments/*.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yaml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77953" y="2941189"/>
            <a:ext cx="5206047" cy="179336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7653" y="3055490"/>
            <a:ext cx="4926647" cy="1605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1C7293"/>
                </a:solidFill>
                <a:latin typeface="Malgun Gothic"/>
              </a:rPr>
              <a:t>공통</a:t>
            </a:r>
            <a:r>
              <a:rPr sz="22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1C7293"/>
                </a:solidFill>
                <a:latin typeface="Malgun Gothic"/>
              </a:rPr>
              <a:t>플랫폼</a:t>
            </a:r>
            <a:endParaRPr sz="2200" b="1" i="0" dirty="0">
              <a:solidFill>
                <a:srgbClr val="1C729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src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/dogfight/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실행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계약을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제공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기본적으로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직접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수정하지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않음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77953" y="4787895"/>
            <a:ext cx="5206047" cy="1409700"/>
          </a:xfrm>
          <a:prstGeom prst="roundRect">
            <a:avLst>
              <a:gd name="adj" fmla="val 7777"/>
            </a:avLst>
          </a:prstGeom>
          <a:solidFill>
            <a:srgbClr val="FFF1F2"/>
          </a:solidFill>
          <a:ln w="1270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17653" y="4902195"/>
            <a:ext cx="38100" cy="11277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44653" y="4902195"/>
            <a:ext cx="4799647" cy="1409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F96167"/>
                </a:solidFill>
                <a:latin typeface="Malgun Gothic"/>
              </a:rPr>
              <a:t>런타임</a:t>
            </a:r>
            <a:r>
              <a:rPr sz="2200" b="1" i="0" dirty="0">
                <a:solidFill>
                  <a:srgbClr val="F96167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96167"/>
                </a:solidFill>
                <a:latin typeface="Malgun Gothic"/>
              </a:rPr>
              <a:t>자산</a:t>
            </a:r>
            <a:endParaRPr sz="2200" b="1" i="0" dirty="0">
              <a:solidFill>
                <a:srgbClr val="F96167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DLL, XML, aircraft, engine, scripts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●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1B2733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이름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변경과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이동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금지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Malgun Gothic"/>
              </a:rPr>
              <a:t>2. 실행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python </a:t>
            </a:r>
            <a:r>
              <a:rPr lang="ko-KR" altLang="en-US" sz="3000" b="1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가상</a:t>
            </a:r>
            <a:r>
              <a:rPr lang="ko-KR" alt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환경을 먼저 설치합니다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1C29B42-6456-9F79-77A3-21AA7F8C4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95" y="1520727"/>
            <a:ext cx="4959605" cy="381654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8F10B85-574C-CA1E-2CBF-5CA37368A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2" y="1520727"/>
            <a:ext cx="4864350" cy="375939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BFD6E4E-669E-1F0C-62FD-CD4018792E32}"/>
              </a:ext>
            </a:extLst>
          </p:cNvPr>
          <p:cNvSpPr txBox="1"/>
          <p:nvPr/>
        </p:nvSpPr>
        <p:spPr>
          <a:xfrm>
            <a:off x="3635375" y="5624144"/>
            <a:ext cx="5175250" cy="4575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lang="en-US" sz="1600" dirty="0">
                <a:latin typeface="Cascadia Mono"/>
              </a:rPr>
              <a:t>Anaconda </a:t>
            </a:r>
            <a:r>
              <a:rPr lang="ko-KR" altLang="en-US" sz="1600" dirty="0">
                <a:latin typeface="Cascadia Mono"/>
              </a:rPr>
              <a:t>설치 시 체크박스</a:t>
            </a:r>
            <a:endParaRPr sz="1600" b="0" i="0" dirty="0">
              <a:latin typeface="Cascadia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Malgun Gothic"/>
              </a:rPr>
              <a:t>2. 실행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ython </a:t>
            </a:r>
            <a:r>
              <a:rPr lang="ko-KR" altLang="en-US" sz="3000" b="1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가상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환경</a:t>
            </a:r>
            <a:r>
              <a:rPr lang="ko-KR" alt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을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먼저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설치합니다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4113812"/>
            <a:ext cx="5480050" cy="1387029"/>
          </a:xfrm>
          <a:prstGeom prst="roundRect">
            <a:avLst>
              <a:gd name="adj" fmla="val 9146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" y="4240812"/>
            <a:ext cx="5175250" cy="13029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0" i="0" dirty="0">
                <a:solidFill>
                  <a:srgbClr val="E6EDF3"/>
                </a:solidFill>
                <a:latin typeface="Cascadia Mono"/>
              </a:rPr>
              <a:t>cd DogFightEnv\Release
python -m pip install -r requirements.txt
python scripts\run_experiment.py experiments\student_sac_mlp.yaml --dry-run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sz="1600" b="0" i="0" dirty="0">
              <a:solidFill>
                <a:srgbClr val="E6EDF3"/>
              </a:solidFill>
              <a:latin typeface="Cascadia Mono"/>
            </a:endParaRPr>
          </a:p>
          <a:p>
            <a:pPr>
              <a:lnSpc>
                <a:spcPct val="125000"/>
              </a:lnSpc>
            </a:pPr>
            <a:endParaRPr lang="en-US" sz="16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sz="1600" b="0" i="0" dirty="0">
              <a:solidFill>
                <a:srgbClr val="E6EDF3"/>
              </a:solidFill>
              <a:latin typeface="Cascadia Mon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8000" y="5634478"/>
            <a:ext cx="5480050" cy="882626"/>
          </a:xfrm>
          <a:prstGeom prst="roundRect">
            <a:avLst>
              <a:gd name="adj" fmla="val 13215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400" y="5761477"/>
            <a:ext cx="5175250" cy="62921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0" i="0" dirty="0">
                <a:solidFill>
                  <a:srgbClr val="E6EDF3"/>
                </a:solidFill>
                <a:latin typeface="Cascadia Mono"/>
              </a:rPr>
              <a:t>python -c "import </a:t>
            </a:r>
            <a:r>
              <a:rPr sz="1600" b="0" i="0" dirty="0" err="1">
                <a:solidFill>
                  <a:srgbClr val="E6EDF3"/>
                </a:solidFill>
                <a:latin typeface="Cascadia Mono"/>
              </a:rPr>
              <a:t>JSBSimWrapper</a:t>
            </a:r>
            <a:r>
              <a:rPr sz="1600" b="0" i="0" dirty="0">
                <a:solidFill>
                  <a:srgbClr val="E6EDF3"/>
                </a:solidFill>
                <a:latin typeface="Cascadia Mono"/>
              </a:rPr>
              <a:t>; print('OK')"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3950" y="1460499"/>
            <a:ext cx="5480050" cy="36736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100" dirty="0">
                <a:solidFill>
                  <a:srgbClr val="1B2733"/>
                </a:solidFill>
                <a:latin typeface="Malgun Gothic"/>
              </a:rPr>
              <a:t>● </a:t>
            </a:r>
            <a:r>
              <a:rPr lang="ko-KR" altLang="en-US" sz="1600" dirty="0">
                <a:solidFill>
                  <a:srgbClr val="1B2733"/>
                </a:solidFill>
                <a:latin typeface="Malgun Gothic"/>
              </a:rPr>
              <a:t>python을 설치합니다.
</a:t>
            </a:r>
            <a:r>
              <a:rPr lang="ko-KR" altLang="en-US" sz="1100" dirty="0">
                <a:solidFill>
                  <a:srgbClr val="1B2733"/>
                </a:solidFill>
                <a:latin typeface="Malgun Gothic"/>
              </a:rPr>
              <a:t>● </a:t>
            </a:r>
            <a:r>
              <a:rPr lang="ko-KR" altLang="en-US" sz="1600" dirty="0">
                <a:solidFill>
                  <a:srgbClr val="1B2733"/>
                </a:solidFill>
                <a:latin typeface="Malgun Gothic"/>
              </a:rPr>
              <a:t>command prompt에서 진행하길 권장합니다.
</a:t>
            </a:r>
            <a:r>
              <a:rPr lang="ko-KR" altLang="en-US" sz="1100" dirty="0">
                <a:solidFill>
                  <a:srgbClr val="1B2733"/>
                </a:solidFill>
                <a:latin typeface="Malgun Gothic"/>
              </a:rPr>
              <a:t>● </a:t>
            </a:r>
            <a:r>
              <a:rPr lang="ko-KR" altLang="en-US" sz="1600" dirty="0">
                <a:solidFill>
                  <a:srgbClr val="1B2733"/>
                </a:solidFill>
                <a:latin typeface="Malgun Gothic"/>
              </a:rPr>
              <a:t>Anaconda 가상환경 Python 3.11.x를 사용합니다.
</a:t>
            </a:r>
            <a:r>
              <a:rPr lang="ko-KR" altLang="en-US" sz="1100" dirty="0">
                <a:solidFill>
                  <a:srgbClr val="1B2733"/>
                </a:solidFill>
                <a:latin typeface="Malgun Gothic"/>
              </a:rPr>
              <a:t>● </a:t>
            </a:r>
            <a:r>
              <a:rPr lang="ko-KR" altLang="en-US" sz="1600" dirty="0">
                <a:solidFill>
                  <a:srgbClr val="1B2733"/>
                </a:solidFill>
                <a:latin typeface="Malgun Gothic"/>
              </a:rPr>
              <a:t>설치 직후에는 학습보다 import와 dry-run부터 확인합니다.
</a:t>
            </a:r>
            <a:r>
              <a:rPr lang="ko-KR" altLang="en-US" sz="1100" dirty="0">
                <a:solidFill>
                  <a:srgbClr val="1B2733"/>
                </a:solidFill>
                <a:latin typeface="Malgun Gothic"/>
              </a:rPr>
              <a:t>● </a:t>
            </a:r>
            <a:r>
              <a:rPr lang="ko-KR" altLang="en-US" sz="1600" dirty="0">
                <a:solidFill>
                  <a:srgbClr val="1B2733"/>
                </a:solidFill>
                <a:latin typeface="Malgun Gothic"/>
              </a:rPr>
              <a:t>Ray/Torch 문제는 가상환경과 버전 충돌을 먼저 봅니다.</a:t>
            </a:r>
          </a:p>
          <a:p>
            <a:pPr>
              <a:lnSpc>
                <a:spcPct val="135000"/>
              </a:lnSpc>
            </a:pPr>
            <a:endParaRPr lang="ko-KR" altLang="en-US" sz="1100" dirty="0">
              <a:solidFill>
                <a:srgbClr val="1B2733"/>
              </a:solidFill>
              <a:latin typeface="Malgun Gothic"/>
            </a:endParaRPr>
          </a:p>
          <a:p>
            <a:pPr>
              <a:lnSpc>
                <a:spcPct val="135000"/>
              </a:lnSpc>
            </a:pPr>
            <a:endParaRPr lang="ko-KR" altLang="en-US" sz="1100" dirty="0">
              <a:solidFill>
                <a:srgbClr val="1B2733"/>
              </a:solidFill>
              <a:latin typeface="Malgun Gothic"/>
            </a:endParaRPr>
          </a:p>
          <a:p>
            <a:pPr>
              <a:lnSpc>
                <a:spcPct val="135000"/>
              </a:lnSpc>
            </a:pPr>
            <a:endParaRPr lang="en-US" sz="2200" b="0" i="0" dirty="0">
              <a:solidFill>
                <a:srgbClr val="1B2733"/>
              </a:solidFill>
              <a:latin typeface="Malgun Gothic"/>
            </a:endParaRPr>
          </a:p>
          <a:p>
            <a:pPr>
              <a:lnSpc>
                <a:spcPct val="135000"/>
              </a:lnSpc>
            </a:pPr>
            <a:endParaRPr lang="en-US" sz="22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2" name="Rounded Rectangle 10">
            <a:extLst>
              <a:ext uri="{FF2B5EF4-FFF2-40B4-BE49-F238E27FC236}">
                <a16:creationId xmlns:a16="http://schemas.microsoft.com/office/drawing/2014/main" id="{5297D944-FB0E-4E96-E54C-EA23EF45829D}"/>
              </a:ext>
            </a:extLst>
          </p:cNvPr>
          <p:cNvSpPr/>
          <p:nvPr/>
        </p:nvSpPr>
        <p:spPr>
          <a:xfrm>
            <a:off x="508000" y="1362400"/>
            <a:ext cx="5480050" cy="882626"/>
          </a:xfrm>
          <a:prstGeom prst="roundRect">
            <a:avLst>
              <a:gd name="adj" fmla="val 13215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973F4-BC89-B92A-3F49-334C0C931113}"/>
              </a:ext>
            </a:extLst>
          </p:cNvPr>
          <p:cNvSpPr txBox="1"/>
          <p:nvPr/>
        </p:nvSpPr>
        <p:spPr>
          <a:xfrm>
            <a:off x="660400" y="1489399"/>
            <a:ext cx="5175250" cy="62921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sz="1600" b="0" i="0" dirty="0" err="1">
                <a:solidFill>
                  <a:srgbClr val="E6EDF3"/>
                </a:solidFill>
                <a:latin typeface="Cascadia Mono"/>
              </a:rPr>
              <a:t>conda</a:t>
            </a:r>
            <a:r>
              <a:rPr lang="en-US" sz="1600" b="0" i="0" dirty="0">
                <a:solidFill>
                  <a:srgbClr val="E6EDF3"/>
                </a:solidFill>
                <a:latin typeface="Cascadia Mono"/>
              </a:rPr>
              <a:t> create –n </a:t>
            </a:r>
            <a:r>
              <a:rPr lang="en-US" sz="1600" b="0" i="0" dirty="0" err="1">
                <a:solidFill>
                  <a:srgbClr val="E6EDF3"/>
                </a:solidFill>
                <a:latin typeface="Cascadia Mono"/>
              </a:rPr>
              <a:t>aip</a:t>
            </a:r>
            <a:r>
              <a:rPr lang="en-US" sz="1600" b="0" i="0" dirty="0">
                <a:solidFill>
                  <a:srgbClr val="E6EDF3"/>
                </a:solidFill>
                <a:latin typeface="Cascadia Mono"/>
              </a:rPr>
              <a:t> python=3.11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sz="1600" b="0" i="0" dirty="0" err="1">
                <a:solidFill>
                  <a:srgbClr val="E6EDF3"/>
                </a:solidFill>
                <a:latin typeface="Cascadia Mono"/>
              </a:rPr>
              <a:t>conda</a:t>
            </a:r>
            <a:r>
              <a:rPr lang="en-US" sz="1600" b="0" i="0" dirty="0">
                <a:solidFill>
                  <a:srgbClr val="E6EDF3"/>
                </a:solidFill>
                <a:latin typeface="Cascadia Mono"/>
              </a:rPr>
              <a:t> activate </a:t>
            </a:r>
            <a:r>
              <a:rPr lang="en-US" sz="1600" b="0" i="0" dirty="0" err="1">
                <a:solidFill>
                  <a:srgbClr val="E6EDF3"/>
                </a:solidFill>
                <a:latin typeface="Cascadia Mono"/>
              </a:rPr>
              <a:t>aip</a:t>
            </a:r>
            <a:endParaRPr sz="1600" b="0" i="0" dirty="0">
              <a:solidFill>
                <a:srgbClr val="E6EDF3"/>
              </a:solidFill>
              <a:latin typeface="Cascadia Mono"/>
            </a:endParaRPr>
          </a:p>
        </p:txBody>
      </p:sp>
      <p:sp>
        <p:nvSpPr>
          <p:cNvPr id="4" name="Rounded Rectangle 10">
            <a:extLst>
              <a:ext uri="{FF2B5EF4-FFF2-40B4-BE49-F238E27FC236}">
                <a16:creationId xmlns:a16="http://schemas.microsoft.com/office/drawing/2014/main" id="{834936DA-905B-FE18-B344-D6A46A33992D}"/>
              </a:ext>
            </a:extLst>
          </p:cNvPr>
          <p:cNvSpPr/>
          <p:nvPr/>
        </p:nvSpPr>
        <p:spPr>
          <a:xfrm>
            <a:off x="508000" y="2351251"/>
            <a:ext cx="5480050" cy="1654948"/>
          </a:xfrm>
          <a:prstGeom prst="roundRect">
            <a:avLst>
              <a:gd name="adj" fmla="val 13215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1AD56-DD1F-9349-F649-C83BD325C4A5}"/>
              </a:ext>
            </a:extLst>
          </p:cNvPr>
          <p:cNvSpPr txBox="1"/>
          <p:nvPr/>
        </p:nvSpPr>
        <p:spPr>
          <a:xfrm>
            <a:off x="660400" y="2478250"/>
            <a:ext cx="5175250" cy="1201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E6EDF3"/>
                </a:solidFill>
                <a:latin typeface="Cascadia Mono"/>
              </a:rPr>
              <a:t>cd DogFightEnv\Release
python RLLibLstm\tools\apply_rllib_sac_lstm_patch.py C:\Users\USER\anaconda3\envs\aip --dry-run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sz="1600" b="0" i="0" dirty="0">
              <a:solidFill>
                <a:srgbClr val="E6EDF3"/>
              </a:solidFill>
              <a:latin typeface="Cascadia Mono"/>
            </a:endParaRPr>
          </a:p>
        </p:txBody>
      </p:sp>
    </p:spTree>
    <p:extLst>
      <p:ext uri="{BB962C8B-B14F-4D97-AF65-F5344CB8AC3E}">
        <p14:creationId xmlns:p14="http://schemas.microsoft.com/office/powerpoint/2010/main" val="1117129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Malgun Gothic"/>
              </a:rPr>
              <a:t>2. 실행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런타임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자산은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반드시 지켜져야 하는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실행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계약입니다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8000" y="1460500"/>
            <a:ext cx="2328333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6900" y="1495342"/>
            <a:ext cx="2150533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 dirty="0" err="1">
                <a:solidFill>
                  <a:srgbClr val="FFFFFF"/>
                </a:solidFill>
                <a:latin typeface="Malgun Gothic"/>
              </a:rPr>
              <a:t>종류</a:t>
            </a:r>
            <a:endParaRPr sz="17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36333" y="1460500"/>
            <a:ext cx="5122333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5233" y="1495342"/>
            <a:ext cx="4944533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 dirty="0" err="1">
                <a:solidFill>
                  <a:srgbClr val="FFFFFF"/>
                </a:solidFill>
                <a:latin typeface="Malgun Gothic"/>
              </a:rPr>
              <a:t>파일</a:t>
            </a:r>
            <a:r>
              <a:rPr sz="1700" b="1" i="0" dirty="0">
                <a:solidFill>
                  <a:srgbClr val="FFFFFF"/>
                </a:solidFill>
                <a:latin typeface="Malgun Gothic"/>
              </a:rPr>
              <a:t>/</a:t>
            </a:r>
            <a:r>
              <a:rPr sz="1700" b="1" i="0" dirty="0" err="1">
                <a:solidFill>
                  <a:srgbClr val="FFFFFF"/>
                </a:solidFill>
                <a:latin typeface="Malgun Gothic"/>
              </a:rPr>
              <a:t>폴더</a:t>
            </a:r>
            <a:endParaRPr sz="17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58667" y="1460500"/>
            <a:ext cx="3725333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7567" y="1495342"/>
            <a:ext cx="3547533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 dirty="0" err="1">
                <a:solidFill>
                  <a:srgbClr val="FFFFFF"/>
                </a:solidFill>
                <a:latin typeface="Malgun Gothic"/>
              </a:rPr>
              <a:t>주의</a:t>
            </a:r>
            <a:endParaRPr sz="17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8000" y="1803400"/>
            <a:ext cx="23283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16" name="TextBox 15"/>
          <p:cNvSpPr txBox="1"/>
          <p:nvPr/>
        </p:nvSpPr>
        <p:spPr>
          <a:xfrm>
            <a:off x="596900" y="1943610"/>
            <a:ext cx="2150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dirty="0" err="1">
                <a:solidFill>
                  <a:srgbClr val="1B2733"/>
                </a:solidFill>
                <a:latin typeface="Malgun Gothic"/>
              </a:rPr>
              <a:t>JSBSim</a:t>
            </a:r>
            <a:endParaRPr sz="11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6333" y="1803400"/>
            <a:ext cx="51223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18" name="TextBox 17"/>
          <p:cNvSpPr txBox="1"/>
          <p:nvPr/>
        </p:nvSpPr>
        <p:spPr>
          <a:xfrm>
            <a:off x="2925233" y="1943610"/>
            <a:ext cx="4944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JSBSimAIPLib.dll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8667" y="1803400"/>
            <a:ext cx="37253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20" name="TextBox 19"/>
          <p:cNvSpPr txBox="1"/>
          <p:nvPr/>
        </p:nvSpPr>
        <p:spPr>
          <a:xfrm>
            <a:off x="8047567" y="1943610"/>
            <a:ext cx="3547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Release 루트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2260600"/>
            <a:ext cx="2328333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22" name="TextBox 21"/>
          <p:cNvSpPr txBox="1"/>
          <p:nvPr/>
        </p:nvSpPr>
        <p:spPr>
          <a:xfrm>
            <a:off x="596900" y="2400810"/>
            <a:ext cx="2150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BT DLL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6333" y="2260600"/>
            <a:ext cx="5122333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24" name="TextBox 23"/>
          <p:cNvSpPr txBox="1"/>
          <p:nvPr/>
        </p:nvSpPr>
        <p:spPr>
          <a:xfrm>
            <a:off x="2925233" y="2303476"/>
            <a:ext cx="4944533" cy="371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AIP_BASE.dll
AIP_BASE_target.dll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8667" y="2260600"/>
            <a:ext cx="3725333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26" name="TextBox 25"/>
          <p:cNvSpPr txBox="1"/>
          <p:nvPr/>
        </p:nvSpPr>
        <p:spPr>
          <a:xfrm>
            <a:off x="8047567" y="2303476"/>
            <a:ext cx="3547533" cy="371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기본/target DLL 구분
팀 DLL은 인자로 지정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2717800"/>
            <a:ext cx="23283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28" name="TextBox 27"/>
          <p:cNvSpPr txBox="1"/>
          <p:nvPr/>
        </p:nvSpPr>
        <p:spPr>
          <a:xfrm>
            <a:off x="596900" y="2858010"/>
            <a:ext cx="2150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Rule XML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6333" y="2717800"/>
            <a:ext cx="51223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30" name="TextBox 29"/>
          <p:cNvSpPr txBox="1"/>
          <p:nvPr/>
        </p:nvSpPr>
        <p:spPr>
          <a:xfrm>
            <a:off x="2925233" y="2760676"/>
            <a:ext cx="4944533" cy="371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Rule_forTraining.xml
Rule_팀이름.xml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8667" y="2717800"/>
            <a:ext cx="37253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32" name="TextBox 31"/>
          <p:cNvSpPr txBox="1"/>
          <p:nvPr/>
        </p:nvSpPr>
        <p:spPr>
          <a:xfrm>
            <a:off x="8047567" y="2760676"/>
            <a:ext cx="3547533" cy="371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기본 Rule 유지
팀별 Rule은 --bt-rule-xml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175000"/>
            <a:ext cx="2328333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34" name="TextBox 33"/>
          <p:cNvSpPr txBox="1"/>
          <p:nvPr/>
        </p:nvSpPr>
        <p:spPr>
          <a:xfrm>
            <a:off x="596900" y="3315210"/>
            <a:ext cx="2150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Aircraft/Engine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6333" y="3175000"/>
            <a:ext cx="5122333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36" name="TextBox 35"/>
          <p:cNvSpPr txBox="1"/>
          <p:nvPr/>
        </p:nvSpPr>
        <p:spPr>
          <a:xfrm>
            <a:off x="2925233" y="3315210"/>
            <a:ext cx="4944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aircraft/, engine/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8667" y="3175000"/>
            <a:ext cx="3725333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38" name="TextBox 37"/>
          <p:cNvSpPr txBox="1"/>
          <p:nvPr/>
        </p:nvSpPr>
        <p:spPr>
          <a:xfrm>
            <a:off x="8047567" y="3315210"/>
            <a:ext cx="3547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폴더 이동 금지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3632200"/>
            <a:ext cx="23283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40" name="TextBox 39"/>
          <p:cNvSpPr txBox="1"/>
          <p:nvPr/>
        </p:nvSpPr>
        <p:spPr>
          <a:xfrm>
            <a:off x="596900" y="3772410"/>
            <a:ext cx="2150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JSBSim scripts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6333" y="3632200"/>
            <a:ext cx="51223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42" name="TextBox 41"/>
          <p:cNvSpPr txBox="1"/>
          <p:nvPr/>
        </p:nvSpPr>
        <p:spPr>
          <a:xfrm>
            <a:off x="2925233" y="3772410"/>
            <a:ext cx="4944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scripts/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8667" y="3632200"/>
            <a:ext cx="37253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50"/>
          </a:p>
        </p:txBody>
      </p:sp>
      <p:sp>
        <p:nvSpPr>
          <p:cNvPr id="44" name="TextBox 43"/>
          <p:cNvSpPr txBox="1"/>
          <p:nvPr/>
        </p:nvSpPr>
        <p:spPr>
          <a:xfrm>
            <a:off x="8047567" y="3772410"/>
            <a:ext cx="3547533" cy="176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B2733"/>
                </a:solidFill>
                <a:latin typeface="Malgun Gothic"/>
              </a:rPr>
              <a:t>초기 실행 자산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2.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실행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준비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실패</a:t>
            </a:r>
            <a:r>
              <a:rPr 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원인은 다음 부분들부터 확인합니다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5511800" cy="1397000"/>
          </a:xfrm>
          <a:prstGeom prst="roundRect">
            <a:avLst>
              <a:gd name="adj" fmla="val 6363"/>
            </a:avLst>
          </a:prstGeom>
          <a:solidFill>
            <a:srgbClr val="FFF1F2"/>
          </a:solidFill>
          <a:ln w="1270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7700" y="1574800"/>
            <a:ext cx="38100" cy="11684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700" y="1574800"/>
            <a:ext cx="5105400" cy="1168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F96167"/>
                </a:solidFill>
                <a:latin typeface="Malgun Gothic"/>
              </a:rPr>
              <a:t>DLL을</a:t>
            </a:r>
            <a:r>
              <a:rPr sz="2200" b="1" i="0" dirty="0">
                <a:solidFill>
                  <a:srgbClr val="F96167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96167"/>
                </a:solidFill>
                <a:latin typeface="Malgun Gothic"/>
              </a:rPr>
              <a:t>찾지</a:t>
            </a:r>
            <a:r>
              <a:rPr sz="2200" b="1" i="0" dirty="0">
                <a:solidFill>
                  <a:srgbClr val="F96167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96167"/>
                </a:solidFill>
                <a:latin typeface="Malgun Gothic"/>
              </a:rPr>
              <a:t>못함</a:t>
            </a:r>
            <a:endParaRPr sz="2200" b="1" i="0" dirty="0">
              <a:solidFill>
                <a:srgbClr val="F96167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 dirty="0">
                <a:solidFill>
                  <a:srgbClr val="1B2733"/>
                </a:solidFill>
                <a:latin typeface="Malgun Gothic"/>
              </a:rPr>
              <a:t>Release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루트에서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실행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중인지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확인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파일명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일치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확인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1460500"/>
            <a:ext cx="5511800" cy="139700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11900" y="1574800"/>
            <a:ext cx="5232400" cy="1168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08A2C"/>
                </a:solidFill>
                <a:latin typeface="Malgun Gothic"/>
              </a:rPr>
              <a:t>import 실패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000" b="0" i="0">
                <a:solidFill>
                  <a:srgbClr val="1B2733"/>
                </a:solidFill>
                <a:latin typeface="Malgun Gothic"/>
              </a:rPr>
              <a:t>가상환경 활성화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000" b="0" i="0">
                <a:solidFill>
                  <a:srgbClr val="1B2733"/>
                </a:solidFill>
                <a:latin typeface="Malgun Gothic"/>
              </a:rPr>
              <a:t>requirements 설치 상태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3009900"/>
            <a:ext cx="5511800" cy="139700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700" y="3124200"/>
            <a:ext cx="5232400" cy="1168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C7293"/>
                </a:solidFill>
                <a:latin typeface="Malgun Gothic"/>
              </a:rPr>
              <a:t>모델 로드 실패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000" b="0" i="0">
                <a:solidFill>
                  <a:srgbClr val="1B2733"/>
                </a:solidFill>
                <a:latin typeface="Malgun Gothic"/>
              </a:rPr>
              <a:t>metadata.json / policy_weights.pkl.gz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000" b="0" i="0">
                <a:solidFill>
                  <a:srgbClr val="1B2733"/>
                </a:solidFill>
                <a:latin typeface="Malgun Gothic"/>
              </a:rPr>
              <a:t>BUNDLE_DIR 경로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009900"/>
            <a:ext cx="5511800" cy="1397000"/>
          </a:xfrm>
          <a:prstGeom prst="roundRect">
            <a:avLst>
              <a:gd name="adj" fmla="val 6363"/>
            </a:avLst>
          </a:prstGeom>
          <a:solidFill>
            <a:srgbClr val="FFF1F2"/>
          </a:solidFill>
          <a:ln w="1270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11900" y="3124200"/>
            <a:ext cx="38100" cy="11684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8900" y="3124200"/>
            <a:ext cx="5105400" cy="1168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96167"/>
                </a:solidFill>
                <a:latin typeface="Malgun Gothic"/>
              </a:rPr>
              <a:t>관측 차원 오류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학습과 추론의 mode/module 일치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OBSERVATION_SIZE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3.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환경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계약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환경은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네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개의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계약으로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움직입니다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5511800" cy="1524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" y="1574800"/>
            <a:ext cx="523240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2BB3D2"/>
                </a:solidFill>
                <a:latin typeface="Malgun Gothic"/>
              </a:rPr>
              <a:t>Observation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정책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입력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벡터</a:t>
            </a:r>
            <a:endParaRPr sz="22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 dirty="0">
                <a:solidFill>
                  <a:srgbClr val="1B2733"/>
                </a:solidFill>
                <a:latin typeface="Malgun Gothic"/>
              </a:rPr>
              <a:t>mode/module/shape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일치</a:t>
            </a:r>
            <a:endParaRPr sz="22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460500"/>
            <a:ext cx="5511800" cy="1524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11900" y="1574800"/>
            <a:ext cx="523240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C7293"/>
                </a:solidFill>
                <a:latin typeface="Malgun Gothic"/>
              </a:rPr>
              <a:t>Action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200" b="0" i="0">
                <a:solidFill>
                  <a:srgbClr val="1B2733"/>
                </a:solidFill>
                <a:latin typeface="Malgun Gothic"/>
              </a:rPr>
              <a:t>4차원 연속 제어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>
                <a:solidFill>
                  <a:srgbClr val="1B2733"/>
                </a:solidFill>
                <a:latin typeface="Malgun Gothic"/>
              </a:rPr>
              <a:t>throttle은 내부에서 [0,1]로 변환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3136900"/>
            <a:ext cx="5511800" cy="1524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700" y="3251200"/>
            <a:ext cx="523240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F8A5F"/>
                </a:solidFill>
                <a:latin typeface="Malgun Gothic"/>
              </a:rPr>
              <a:t>Reward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200" b="0" i="0">
                <a:solidFill>
                  <a:srgbClr val="1B2733"/>
                </a:solidFill>
                <a:latin typeface="Malgun Gothic"/>
              </a:rPr>
              <a:t>float reward + components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>
                <a:solidFill>
                  <a:srgbClr val="1B2733"/>
                </a:solidFill>
                <a:latin typeface="Malgun Gothic"/>
              </a:rPr>
              <a:t>분석 가능한 이름으로 기록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36900"/>
            <a:ext cx="5511800" cy="1524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1900" y="3251200"/>
            <a:ext cx="523240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08A2C"/>
                </a:solidFill>
                <a:latin typeface="Malgun Gothic"/>
              </a:rPr>
              <a:t>Termination / Info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200" b="0" i="0">
                <a:solidFill>
                  <a:srgbClr val="1B2733"/>
                </a:solidFill>
                <a:latin typeface="Malgun Gothic"/>
              </a:rPr>
              <a:t>종료 사유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>
                <a:solidFill>
                  <a:srgbClr val="1B2733"/>
                </a:solidFill>
                <a:latin typeface="Malgun Gothic"/>
              </a:rPr>
              <a:t>로그와 metric 해석 근거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Malgun Gothic"/>
              </a:rPr>
              <a:t>3. 환경 계약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관측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모드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: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기본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4종과 custom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2153920" cy="203708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" y="1574800"/>
            <a:ext cx="1874520" cy="14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dirty="0">
                <a:solidFill>
                  <a:srgbClr val="54606C"/>
                </a:solidFill>
                <a:latin typeface="Malgun Gothic"/>
              </a:rPr>
              <a:t>classic12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기본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비교용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 dirty="0">
                <a:solidFill>
                  <a:srgbClr val="1B2733"/>
                </a:solidFill>
                <a:latin typeface="Malgun Gothic"/>
              </a:rPr>
              <a:t>12차원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3520" y="1460500"/>
            <a:ext cx="2153920" cy="203708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03220" y="1574800"/>
            <a:ext cx="1874520" cy="14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54606C"/>
                </a:solidFill>
                <a:latin typeface="Malgun Gothic"/>
              </a:rPr>
              <a:t>relative14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상대 위치 중심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14차원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9040" y="1460500"/>
            <a:ext cx="2153920" cy="203708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58740" y="1574800"/>
            <a:ext cx="1874520" cy="14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C7293"/>
                </a:solidFill>
                <a:latin typeface="Malgun Gothic"/>
              </a:rPr>
              <a:t>tactical16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기본 제공 예시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16차원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4560" y="1460500"/>
            <a:ext cx="2153920" cy="203708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4260" y="1574800"/>
            <a:ext cx="1874520" cy="7715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dirty="0">
                <a:solidFill>
                  <a:srgbClr val="54606C"/>
                </a:solidFill>
                <a:latin typeface="Malgun Gothic"/>
              </a:rPr>
              <a:t>legacy37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 dirty="0">
                <a:solidFill>
                  <a:srgbClr val="1B2733"/>
                </a:solidFill>
                <a:latin typeface="Malgun Gothic"/>
              </a:rPr>
              <a:t>37차원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30080" y="1460500"/>
            <a:ext cx="2153920" cy="203708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69780" y="1574800"/>
            <a:ext cx="1874520" cy="142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dirty="0">
                <a:solidFill>
                  <a:srgbClr val="F96167"/>
                </a:solidFill>
                <a:latin typeface="Malgun Gothic"/>
              </a:rPr>
              <a:t>custom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 dirty="0">
                <a:solidFill>
                  <a:srgbClr val="1B2733"/>
                </a:solidFill>
                <a:latin typeface="Malgun Gothic"/>
              </a:rPr>
              <a:t>student/my_observation.py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 dirty="0">
                <a:solidFill>
                  <a:srgbClr val="1B2733"/>
                </a:solidFill>
                <a:latin typeface="Malgun Gothic"/>
              </a:rPr>
              <a:t>OBSERVATION_SIZE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직접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선언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8000" y="3888740"/>
            <a:ext cx="11176000" cy="609600"/>
          </a:xfrm>
          <a:prstGeom prst="roundRect">
            <a:avLst>
              <a:gd name="adj" fmla="val 125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400" y="4015740"/>
            <a:ext cx="108712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000" b="0" i="0" dirty="0">
                <a:solidFill>
                  <a:srgbClr val="E6EDF3"/>
                </a:solidFill>
                <a:latin typeface="Cascadia Mono"/>
              </a:rPr>
              <a:t>--observation-mode custom --observation-module </a:t>
            </a:r>
            <a:r>
              <a:rPr sz="2000" b="0" i="0" dirty="0" err="1">
                <a:solidFill>
                  <a:srgbClr val="E6EDF3"/>
                </a:solidFill>
                <a:latin typeface="Cascadia Mono"/>
              </a:rPr>
              <a:t>student.my_observation</a:t>
            </a:r>
            <a:endParaRPr sz="2000" b="0" i="0" dirty="0">
              <a:solidFill>
                <a:srgbClr val="E6EDF3"/>
              </a:solidFill>
              <a:latin typeface="Cascadia Mon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8000" y="4724400"/>
            <a:ext cx="11176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 dirty="0">
                <a:solidFill>
                  <a:srgbClr val="1B2733"/>
                </a:solidFill>
                <a:latin typeface="Malgun Gothic"/>
              </a:rPr>
              <a:t>tactical16은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기본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제공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예시입니다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.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학생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설계의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정답으로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고정하지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않습니다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3.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환경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계약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999" y="685800"/>
            <a:ext cx="11176001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custom observation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작성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계약</a:t>
            </a:r>
            <a:r>
              <a:rPr 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: my_observation.py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11176000" cy="2142714"/>
          </a:xfrm>
          <a:prstGeom prst="roundRect">
            <a:avLst>
              <a:gd name="adj" fmla="val 4545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" y="1587500"/>
            <a:ext cx="10871200" cy="1818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000" b="0" i="0" dirty="0">
                <a:solidFill>
                  <a:srgbClr val="E6EDF3"/>
                </a:solidFill>
                <a:latin typeface="Cascadia Mono"/>
              </a:rPr>
              <a:t>OBSERVATION_MODE = "student8"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000" b="0" i="0" dirty="0">
                <a:solidFill>
                  <a:srgbClr val="E6EDF3"/>
                </a:solidFill>
                <a:latin typeface="Cascadia Mono"/>
              </a:rPr>
              <a:t>OBSERVATION_SIZE = 8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000" b="0" i="0" dirty="0">
                <a:solidFill>
                  <a:srgbClr val="E6EDF3"/>
                </a:solidFill>
                <a:latin typeface="Cascadia Mono"/>
              </a:rPr>
              <a:t>def </a:t>
            </a:r>
            <a:r>
              <a:rPr sz="2000" b="0" i="0" dirty="0" err="1">
                <a:solidFill>
                  <a:srgbClr val="E6EDF3"/>
                </a:solidFill>
                <a:latin typeface="Cascadia Mono"/>
              </a:rPr>
              <a:t>build_observation</a:t>
            </a:r>
            <a:r>
              <a:rPr sz="2000" b="0" i="0" dirty="0">
                <a:solidFill>
                  <a:srgbClr val="E6EDF3"/>
                </a:solidFill>
                <a:latin typeface="Cascadia Mono"/>
              </a:rPr>
              <a:t>(</a:t>
            </a:r>
            <a:r>
              <a:rPr sz="2000" b="0" i="0" dirty="0" err="1">
                <a:solidFill>
                  <a:srgbClr val="E6EDF3"/>
                </a:solidFill>
                <a:latin typeface="Cascadia Mono"/>
              </a:rPr>
              <a:t>ownship_state</a:t>
            </a:r>
            <a:r>
              <a:rPr sz="2000" b="0" i="0" dirty="0">
                <a:solidFill>
                  <a:srgbClr val="E6EDF3"/>
                </a:solidFill>
                <a:latin typeface="Cascadia Mono"/>
              </a:rPr>
              <a:t>, </a:t>
            </a:r>
            <a:r>
              <a:rPr sz="2000" b="0" i="0" dirty="0" err="1">
                <a:solidFill>
                  <a:srgbClr val="E6EDF3"/>
                </a:solidFill>
                <a:latin typeface="Cascadia Mono"/>
              </a:rPr>
              <a:t>target_state</a:t>
            </a:r>
            <a:r>
              <a:rPr sz="2000" b="0" i="0" dirty="0">
                <a:solidFill>
                  <a:srgbClr val="E6EDF3"/>
                </a:solidFill>
                <a:latin typeface="Cascadia Mono"/>
              </a:rPr>
              <a:t>, </a:t>
            </a:r>
            <a:r>
              <a:rPr sz="2000" b="0" i="0" dirty="0" err="1">
                <a:solidFill>
                  <a:srgbClr val="E6EDF3"/>
                </a:solidFill>
                <a:latin typeface="Cascadia Mono"/>
              </a:rPr>
              <a:t>geo_info</a:t>
            </a:r>
            <a:r>
              <a:rPr sz="2000" b="0" i="0" dirty="0">
                <a:solidFill>
                  <a:srgbClr val="E6EDF3"/>
                </a:solidFill>
                <a:latin typeface="Cascadia Mono"/>
              </a:rPr>
              <a:t>, </a:t>
            </a:r>
            <a:r>
              <a:rPr sz="2000" b="0" i="0" dirty="0" err="1">
                <a:solidFill>
                  <a:srgbClr val="E6EDF3"/>
                </a:solidFill>
                <a:latin typeface="Cascadia Mono"/>
              </a:rPr>
              <a:t>wez_config</a:t>
            </a:r>
            <a:r>
              <a:rPr sz="2000" b="0" i="0" dirty="0">
                <a:solidFill>
                  <a:srgbClr val="E6EDF3"/>
                </a:solidFill>
                <a:latin typeface="Cascadia Mono"/>
              </a:rPr>
              <a:t>=None):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000" b="0" i="0" dirty="0">
                <a:solidFill>
                  <a:srgbClr val="E6EDF3"/>
                </a:solidFill>
                <a:latin typeface="Cascadia Mono"/>
              </a:rPr>
              <a:t>    return </a:t>
            </a:r>
            <a:r>
              <a:rPr sz="2000" b="0" i="0" dirty="0" err="1">
                <a:solidFill>
                  <a:srgbClr val="E6EDF3"/>
                </a:solidFill>
                <a:latin typeface="Cascadia Mono"/>
              </a:rPr>
              <a:t>np.asarray</a:t>
            </a:r>
            <a:r>
              <a:rPr sz="2000" b="0" i="0" dirty="0">
                <a:solidFill>
                  <a:srgbClr val="E6EDF3"/>
                </a:solidFill>
                <a:latin typeface="Cascadia Mono"/>
              </a:rPr>
              <a:t>(</a:t>
            </a:r>
            <a:r>
              <a:rPr sz="2000" b="0" i="0" dirty="0" err="1">
                <a:solidFill>
                  <a:srgbClr val="E6EDF3"/>
                </a:solidFill>
                <a:latin typeface="Cascadia Mono"/>
              </a:rPr>
              <a:t>obs</a:t>
            </a:r>
            <a:r>
              <a:rPr sz="2000" b="0" i="0" dirty="0">
                <a:solidFill>
                  <a:srgbClr val="E6EDF3"/>
                </a:solidFill>
                <a:latin typeface="Cascadia Mono"/>
              </a:rPr>
              <a:t>, </a:t>
            </a:r>
            <a:r>
              <a:rPr sz="2000" b="0" i="0" dirty="0" err="1">
                <a:solidFill>
                  <a:srgbClr val="E6EDF3"/>
                </a:solidFill>
                <a:latin typeface="Cascadia Mono"/>
              </a:rPr>
              <a:t>dtype</a:t>
            </a:r>
            <a:r>
              <a:rPr sz="2000" b="0" i="0" dirty="0">
                <a:solidFill>
                  <a:srgbClr val="E6EDF3"/>
                </a:solidFill>
                <a:latin typeface="Cascadia Mono"/>
              </a:rPr>
              <a:t>=np.float32)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3782060"/>
            <a:ext cx="3623733" cy="138430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700" y="3896359"/>
            <a:ext cx="3344333" cy="1185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2BB3D2"/>
                </a:solidFill>
                <a:latin typeface="Malgun Gothic"/>
              </a:rPr>
              <a:t>shape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반환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vector shape == OBSERVATION_SIZE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4133" y="3782060"/>
            <a:ext cx="3623733" cy="138430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3833" y="3896359"/>
            <a:ext cx="3344333" cy="1185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1C7293"/>
                </a:solidFill>
                <a:latin typeface="Malgun Gothic"/>
              </a:rPr>
              <a:t>dtype</a:t>
            </a:r>
            <a:endParaRPr sz="2200" b="1" i="0" dirty="0">
              <a:solidFill>
                <a:srgbClr val="1C729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 dirty="0">
                <a:solidFill>
                  <a:srgbClr val="1B2733"/>
                </a:solidFill>
                <a:latin typeface="Malgun Gothic"/>
              </a:rPr>
              <a:t>float32 1-D vector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권장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60267" y="3782060"/>
            <a:ext cx="3623733" cy="1384300"/>
          </a:xfrm>
          <a:prstGeom prst="roundRect">
            <a:avLst>
              <a:gd name="adj" fmla="val 8235"/>
            </a:avLst>
          </a:prstGeom>
          <a:solidFill>
            <a:srgbClr val="FFF1F2"/>
          </a:solidFill>
          <a:ln w="1270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99967" y="3896360"/>
            <a:ext cx="38100" cy="109115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6967" y="3896359"/>
            <a:ext cx="3217333" cy="11857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F96167"/>
                </a:solidFill>
                <a:latin typeface="Malgun Gothic"/>
              </a:rPr>
              <a:t>일관성</a:t>
            </a:r>
            <a:endParaRPr sz="2200" b="1" i="0" dirty="0">
              <a:solidFill>
                <a:srgbClr val="F96167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학습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/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로컬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/ Unreal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모두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같은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module 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3.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환경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계약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액션과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종료는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결과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해석의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기준입니다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8000" y="2259398"/>
            <a:ext cx="1611779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6900" y="2259398"/>
            <a:ext cx="1433979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19779" y="2259398"/>
            <a:ext cx="2256491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08679" y="2259398"/>
            <a:ext cx="2078691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의미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6271" y="2259398"/>
            <a:ext cx="1611779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5171" y="2259398"/>
            <a:ext cx="1433979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범위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602298"/>
            <a:ext cx="1611779" cy="3683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6900" y="2602298"/>
            <a:ext cx="1433979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19779" y="2602298"/>
            <a:ext cx="2256491" cy="3683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08679" y="2602298"/>
            <a:ext cx="2078691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roll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6271" y="2602298"/>
            <a:ext cx="1611779" cy="3683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65171" y="2602298"/>
            <a:ext cx="1433979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800" b="0" i="0" dirty="0">
                <a:solidFill>
                  <a:srgbClr val="1B2733"/>
                </a:solidFill>
                <a:latin typeface="Malgun Gothic"/>
              </a:rPr>
              <a:t>[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-1</a:t>
            </a:r>
            <a:r>
              <a:rPr lang="en-US" sz="1800" b="0" i="0" dirty="0">
                <a:solidFill>
                  <a:srgbClr val="1B2733"/>
                </a:solidFill>
                <a:latin typeface="Malgun Gothic"/>
              </a:rPr>
              <a:t>, 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1</a:t>
            </a:r>
            <a:r>
              <a:rPr lang="en-US" sz="1800" b="0" i="0" dirty="0">
                <a:solidFill>
                  <a:srgbClr val="1B2733"/>
                </a:solidFill>
                <a:latin typeface="Malgun Gothic"/>
              </a:rPr>
              <a:t>]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8000" y="2970598"/>
            <a:ext cx="1611779" cy="3683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6900" y="2970598"/>
            <a:ext cx="1433979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19779" y="2970598"/>
            <a:ext cx="2256491" cy="3683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08679" y="2970598"/>
            <a:ext cx="2078691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pitch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6271" y="2970598"/>
            <a:ext cx="1611779" cy="3683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65171" y="2970598"/>
            <a:ext cx="1433979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1800" b="0" i="0" dirty="0">
                <a:solidFill>
                  <a:srgbClr val="1B2733"/>
                </a:solidFill>
                <a:latin typeface="Malgun Gothic"/>
              </a:rPr>
              <a:t>[-1, 1]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3338898"/>
            <a:ext cx="1611779" cy="3683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6900" y="3338898"/>
            <a:ext cx="1433979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19779" y="3338898"/>
            <a:ext cx="2256491" cy="3683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08679" y="3338898"/>
            <a:ext cx="2078691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rudder/yaw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76271" y="3338898"/>
            <a:ext cx="1611779" cy="3683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65171" y="3338898"/>
            <a:ext cx="1433979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1800" b="0" i="0" dirty="0">
                <a:solidFill>
                  <a:srgbClr val="1B2733"/>
                </a:solidFill>
                <a:latin typeface="Malgun Gothic"/>
              </a:rPr>
              <a:t>[-1, 1]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707198"/>
            <a:ext cx="1611779" cy="3683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6900" y="3707198"/>
            <a:ext cx="1433979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19779" y="3707198"/>
            <a:ext cx="2256491" cy="3683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08679" y="3707198"/>
            <a:ext cx="2078691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throttle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6271" y="3707198"/>
            <a:ext cx="1611779" cy="3683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65171" y="3707198"/>
            <a:ext cx="1433979" cy="368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1800" b="0" i="0" dirty="0">
                <a:solidFill>
                  <a:srgbClr val="1B2733"/>
                </a:solidFill>
                <a:latin typeface="Malgun Gothic"/>
              </a:rPr>
              <a:t>[-1,1]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-&gt;</a:t>
            </a:r>
            <a:r>
              <a:rPr lang="en-US" sz="1800" b="0" i="0" dirty="0">
                <a:solidFill>
                  <a:srgbClr val="1B2733"/>
                </a:solidFill>
                <a:latin typeface="Malgun Gothic"/>
              </a:rPr>
              <a:t>[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0</a:t>
            </a:r>
            <a:r>
              <a:rPr lang="en-US" sz="1800" b="0" i="0" dirty="0">
                <a:solidFill>
                  <a:srgbClr val="1B2733"/>
                </a:solidFill>
                <a:latin typeface="Malgun Gothic"/>
              </a:rPr>
              <a:t>,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1</a:t>
            </a:r>
            <a:r>
              <a:rPr lang="en-US" sz="1800" b="0" i="0" dirty="0">
                <a:solidFill>
                  <a:srgbClr val="1B2733"/>
                </a:solidFill>
                <a:latin typeface="Malgun Gothic"/>
              </a:rPr>
              <a:t>]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8000" y="4291397"/>
            <a:ext cx="5480050" cy="8255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1" dirty="0" err="1">
                <a:solidFill>
                  <a:srgbClr val="1B2733"/>
                </a:solidFill>
                <a:latin typeface="Malgun Gothic"/>
              </a:rPr>
              <a:t>승패보다</a:t>
            </a:r>
            <a:r>
              <a:rPr sz="18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1" dirty="0" err="1">
                <a:solidFill>
                  <a:srgbClr val="1B2733"/>
                </a:solidFill>
                <a:latin typeface="Malgun Gothic"/>
              </a:rPr>
              <a:t>종료</a:t>
            </a:r>
            <a:r>
              <a:rPr sz="18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1" dirty="0" err="1">
                <a:solidFill>
                  <a:srgbClr val="1B2733"/>
                </a:solidFill>
                <a:latin typeface="Malgun Gothic"/>
              </a:rPr>
              <a:t>사유부터</a:t>
            </a:r>
            <a:r>
              <a:rPr sz="18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1" dirty="0" err="1">
                <a:solidFill>
                  <a:srgbClr val="1B2733"/>
                </a:solidFill>
                <a:latin typeface="Malgun Gothic"/>
              </a:rPr>
              <a:t>봅니다</a:t>
            </a:r>
            <a:r>
              <a:rPr sz="1800" b="0" i="1" dirty="0">
                <a:solidFill>
                  <a:srgbClr val="1B2733"/>
                </a:solidFill>
                <a:latin typeface="Malgun Gothic"/>
              </a:rPr>
              <a:t>. </a:t>
            </a:r>
            <a:r>
              <a:rPr sz="1800" b="0" i="1" dirty="0" err="1">
                <a:solidFill>
                  <a:srgbClr val="1B2733"/>
                </a:solidFill>
                <a:latin typeface="Malgun Gothic"/>
              </a:rPr>
              <a:t>종료</a:t>
            </a:r>
            <a:r>
              <a:rPr sz="18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1" dirty="0" err="1">
                <a:solidFill>
                  <a:srgbClr val="1B2733"/>
                </a:solidFill>
                <a:latin typeface="Malgun Gothic"/>
              </a:rPr>
              <a:t>조건은</a:t>
            </a:r>
            <a:r>
              <a:rPr sz="18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1" dirty="0" err="1">
                <a:solidFill>
                  <a:srgbClr val="1B2733"/>
                </a:solidFill>
                <a:latin typeface="Malgun Gothic"/>
              </a:rPr>
              <a:t>정답이</a:t>
            </a:r>
            <a:r>
              <a:rPr sz="18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1" dirty="0" err="1">
                <a:solidFill>
                  <a:srgbClr val="1B2733"/>
                </a:solidFill>
                <a:latin typeface="Malgun Gothic"/>
              </a:rPr>
              <a:t>아니라</a:t>
            </a:r>
            <a:r>
              <a:rPr sz="18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1" dirty="0" err="1">
                <a:solidFill>
                  <a:srgbClr val="1B2733"/>
                </a:solidFill>
                <a:latin typeface="Malgun Gothic"/>
              </a:rPr>
              <a:t>분석</a:t>
            </a:r>
            <a:r>
              <a:rPr sz="18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1" dirty="0" err="1">
                <a:solidFill>
                  <a:srgbClr val="1B2733"/>
                </a:solidFill>
                <a:latin typeface="Malgun Gothic"/>
              </a:rPr>
              <a:t>기준입니다</a:t>
            </a:r>
            <a:r>
              <a:rPr sz="1800" b="0" i="1" dirty="0">
                <a:solidFill>
                  <a:srgbClr val="1B2733"/>
                </a:solidFill>
                <a:latin typeface="Malgun Gothic"/>
              </a:rPr>
              <a:t>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3950" y="2259397"/>
            <a:ext cx="2682875" cy="132093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43650" y="2373698"/>
            <a:ext cx="2403475" cy="1041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96167"/>
                </a:solidFill>
                <a:latin typeface="Malgun Gothic"/>
              </a:rPr>
              <a:t>Health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ownship/target HP 0 이하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1125" y="2259397"/>
            <a:ext cx="2682875" cy="132093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0825" y="2373698"/>
            <a:ext cx="2403475" cy="1041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D08A2C"/>
                </a:solidFill>
                <a:latin typeface="Malgun Gothic"/>
              </a:rPr>
              <a:t>Altitude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최저 고도 미만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03950" y="3703455"/>
            <a:ext cx="2682875" cy="132093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43650" y="3817756"/>
            <a:ext cx="2403475" cy="1041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i="0" dirty="0">
                <a:solidFill>
                  <a:srgbClr val="1C7293"/>
                </a:solidFill>
                <a:latin typeface="Malgun Gothic"/>
              </a:rPr>
              <a:t>Time / Step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max_engage_time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episode_step_limit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001125" y="3703455"/>
            <a:ext cx="2682875" cy="132093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0825" y="3817756"/>
            <a:ext cx="2403475" cy="1041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1295C"/>
                </a:solidFill>
                <a:latin typeface="Malgun Gothic"/>
              </a:rPr>
              <a:t>FDM / Guard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FDM 오류, NaN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>
                <a:solidFill>
                  <a:srgbClr val="1B2733"/>
                </a:solidFill>
                <a:latin typeface="Malgun Gothic"/>
              </a:rPr>
              <a:t>연구용 guard</a:t>
            </a:r>
          </a:p>
        </p:txBody>
      </p:sp>
      <p:sp>
        <p:nvSpPr>
          <p:cNvPr id="48" name="Rectangle 15">
            <a:extLst>
              <a:ext uri="{FF2B5EF4-FFF2-40B4-BE49-F238E27FC236}">
                <a16:creationId xmlns:a16="http://schemas.microsoft.com/office/drawing/2014/main" id="{B6A0427C-3EFA-1472-46CD-018FB6EB003D}"/>
              </a:ext>
            </a:extLst>
          </p:cNvPr>
          <p:cNvSpPr/>
          <p:nvPr/>
        </p:nvSpPr>
        <p:spPr>
          <a:xfrm>
            <a:off x="6083300" y="2042873"/>
            <a:ext cx="38100" cy="324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8388F5-4113-F361-F660-397ECE8060F1}"/>
              </a:ext>
            </a:extLst>
          </p:cNvPr>
          <p:cNvSpPr txBox="1"/>
          <p:nvPr/>
        </p:nvSpPr>
        <p:spPr>
          <a:xfrm>
            <a:off x="508000" y="1426791"/>
            <a:ext cx="4333507" cy="698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b="1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액션 공간</a:t>
            </a:r>
            <a:endParaRPr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A95C6C-1681-0BD1-3FFA-15699A9B1183}"/>
              </a:ext>
            </a:extLst>
          </p:cNvPr>
          <p:cNvSpPr txBox="1"/>
          <p:nvPr/>
        </p:nvSpPr>
        <p:spPr>
          <a:xfrm>
            <a:off x="6223000" y="1426791"/>
            <a:ext cx="4333507" cy="698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b="1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종료 조건</a:t>
            </a:r>
            <a:endParaRPr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4.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학생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작성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학생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수정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영역</a:t>
            </a:r>
            <a:r>
              <a:rPr lang="ko-KR" alt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은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분리되어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있습니다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5499100" cy="14749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" y="1574799"/>
            <a:ext cx="5219700" cy="12094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1F8A5F"/>
                </a:solidFill>
                <a:latin typeface="Malgun Gothic"/>
              </a:rPr>
              <a:t>student/my_reward.py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보상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아이디어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compute_reward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()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반환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계약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84900" y="1460500"/>
            <a:ext cx="5499100" cy="14749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4600" y="1574799"/>
            <a:ext cx="5219700" cy="12094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BB3D2"/>
                </a:solidFill>
                <a:latin typeface="Malgun Gothic"/>
              </a:rPr>
              <a:t>student/my_observation.py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관측 아이디어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OBSERVATION_SIZE와 shape 계약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2870200"/>
            <a:ext cx="5499100" cy="14749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700" y="2984499"/>
            <a:ext cx="5219700" cy="12094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08A2C"/>
                </a:solidFill>
                <a:latin typeface="Malgun Gothic"/>
              </a:rPr>
              <a:t>student/my_curriculum.py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단계 아이디어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get_stages()로 stage 목록 제공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4900" y="2870200"/>
            <a:ext cx="5499100" cy="14749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4600" y="2984499"/>
            <a:ext cx="5219700" cy="12094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200" b="1" i="0" dirty="0">
                <a:solidFill>
                  <a:srgbClr val="1C7293"/>
                </a:solidFill>
                <a:latin typeface="Malgun Gothic"/>
              </a:rPr>
              <a:t>E</a:t>
            </a:r>
            <a:r>
              <a:rPr sz="2200" b="1" i="0" dirty="0">
                <a:solidFill>
                  <a:srgbClr val="1C7293"/>
                </a:solidFill>
                <a:latin typeface="Malgun Gothic"/>
              </a:rPr>
              <a:t>xperiments/*.</a:t>
            </a:r>
            <a:r>
              <a:rPr sz="2200" b="1" i="0" dirty="0" err="1">
                <a:solidFill>
                  <a:srgbClr val="1C7293"/>
                </a:solidFill>
                <a:latin typeface="Malgun Gothic"/>
              </a:rPr>
              <a:t>yaml</a:t>
            </a:r>
            <a:endParaRPr sz="2200" b="1" i="0" dirty="0">
              <a:solidFill>
                <a:srgbClr val="1C729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실험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조건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기록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 dirty="0">
                <a:solidFill>
                  <a:srgbClr val="1B2733"/>
                </a:solidFill>
                <a:latin typeface="Malgun Gothic"/>
              </a:rPr>
              <a:t>output/env/algo/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runtime을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파일로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보존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8000" y="5196954"/>
            <a:ext cx="11176000" cy="508000"/>
          </a:xfrm>
          <a:prstGeom prst="roundRect">
            <a:avLst>
              <a:gd name="adj" fmla="val 175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100" y="5196954"/>
            <a:ext cx="108458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공통</a:t>
            </a:r>
            <a:r>
              <a:rPr sz="22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학습</a:t>
            </a:r>
            <a:r>
              <a:rPr sz="22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루프</a:t>
            </a:r>
            <a:r>
              <a:rPr lang="ko-KR" altLang="en-US" sz="2200" b="1" i="0" dirty="0">
                <a:solidFill>
                  <a:srgbClr val="FFFFFF"/>
                </a:solidFill>
                <a:latin typeface="Malgun Gothic"/>
              </a:rPr>
              <a:t>를 담은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본체</a:t>
            </a:r>
            <a:r>
              <a:rPr lang="ko-KR" altLang="en-US" sz="2200" b="1" i="0" dirty="0">
                <a:solidFill>
                  <a:srgbClr val="FFFFFF"/>
                </a:solidFill>
                <a:latin typeface="Malgun Gothic"/>
              </a:rPr>
              <a:t>의 수정은 지양합니다</a:t>
            </a:r>
            <a:r>
              <a:rPr lang="en-US" altLang="ko-KR" sz="2200" b="1" i="0" dirty="0">
                <a:solidFill>
                  <a:srgbClr val="FFFFFF"/>
                </a:solidFill>
                <a:latin typeface="Malgun Gothic"/>
              </a:rPr>
              <a:t>.</a:t>
            </a:r>
            <a:endParaRPr sz="2200" b="1" i="0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4.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학생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작성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my_reward.py: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공식보다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반환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계약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6028055" cy="2273300"/>
          </a:xfrm>
          <a:prstGeom prst="roundRect">
            <a:avLst>
              <a:gd name="adj" fmla="val 375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" y="1587500"/>
            <a:ext cx="5723255" cy="19891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000" b="0" i="0" dirty="0">
                <a:solidFill>
                  <a:srgbClr val="E6EDF3"/>
                </a:solidFill>
                <a:latin typeface="Cascadia Mono"/>
              </a:rPr>
              <a:t>MY_REWARD_CONFIG = { ... }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000" b="0" i="0" dirty="0">
                <a:solidFill>
                  <a:srgbClr val="E6EDF3"/>
                </a:solidFill>
                <a:latin typeface="Cascadia Mono"/>
              </a:rPr>
              <a:t>def </a:t>
            </a:r>
            <a:r>
              <a:rPr sz="2000" b="0" i="0" dirty="0" err="1">
                <a:solidFill>
                  <a:srgbClr val="E6EDF3"/>
                </a:solidFill>
                <a:latin typeface="Cascadia Mono"/>
              </a:rPr>
              <a:t>compute_reward</a:t>
            </a:r>
            <a:r>
              <a:rPr sz="2000" b="0" i="0" dirty="0">
                <a:solidFill>
                  <a:srgbClr val="E6EDF3"/>
                </a:solidFill>
                <a:latin typeface="Cascadia Mono"/>
              </a:rPr>
              <a:t>(...):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000" b="0" i="0" dirty="0">
                <a:solidFill>
                  <a:srgbClr val="E6EDF3"/>
                </a:solidFill>
                <a:latin typeface="Cascadia Mono"/>
              </a:rPr>
              <a:t>    components = {}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000" b="0" i="0" dirty="0">
                <a:solidFill>
                  <a:srgbClr val="E6EDF3"/>
                </a:solidFill>
                <a:latin typeface="Cascadia Mono"/>
              </a:rPr>
              <a:t>    total =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2000" b="0" i="0" dirty="0">
                <a:solidFill>
                  <a:srgbClr val="E6EDF3"/>
                </a:solidFill>
                <a:latin typeface="Cascadia Mono"/>
              </a:rPr>
              <a:t>    return float(total), components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09C30C1-16DB-052B-DFD6-3D19C310BC09}"/>
              </a:ext>
            </a:extLst>
          </p:cNvPr>
          <p:cNvGrpSpPr/>
          <p:nvPr/>
        </p:nvGrpSpPr>
        <p:grpSpPr>
          <a:xfrm>
            <a:off x="6751955" y="1460499"/>
            <a:ext cx="4932045" cy="1381937"/>
            <a:chOff x="6751955" y="1460499"/>
            <a:chExt cx="4932045" cy="1381937"/>
          </a:xfrm>
        </p:grpSpPr>
        <p:sp>
          <p:nvSpPr>
            <p:cNvPr id="11" name="Rounded Rectangle 10"/>
            <p:cNvSpPr/>
            <p:nvPr/>
          </p:nvSpPr>
          <p:spPr>
            <a:xfrm>
              <a:off x="6751955" y="1460499"/>
              <a:ext cx="4932045" cy="1381937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891655" y="1574800"/>
              <a:ext cx="4652645" cy="10502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 err="1">
                  <a:solidFill>
                    <a:srgbClr val="1F8A5F"/>
                  </a:solidFill>
                  <a:latin typeface="Malgun Gothic"/>
                </a:rPr>
                <a:t>반환</a:t>
              </a:r>
              <a:r>
                <a:rPr sz="2200" b="1" i="0" dirty="0">
                  <a:solidFill>
                    <a:srgbClr val="1F8A5F"/>
                  </a:solidFill>
                  <a:latin typeface="Malgun Gothic"/>
                </a:rPr>
                <a:t> </a:t>
              </a:r>
              <a:r>
                <a:rPr sz="2200" b="1" i="0" dirty="0" err="1">
                  <a:solidFill>
                    <a:srgbClr val="1F8A5F"/>
                  </a:solidFill>
                  <a:latin typeface="Malgun Gothic"/>
                </a:rPr>
                <a:t>계약</a:t>
              </a:r>
              <a:endParaRPr sz="2200" b="1" i="0" dirty="0">
                <a:solidFill>
                  <a:srgbClr val="1F8A5F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float total</a:t>
              </a: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dict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components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EDBB15F-8367-4215-00FC-8997928723AF}"/>
              </a:ext>
            </a:extLst>
          </p:cNvPr>
          <p:cNvGrpSpPr/>
          <p:nvPr/>
        </p:nvGrpSpPr>
        <p:grpSpPr>
          <a:xfrm>
            <a:off x="6751955" y="2984198"/>
            <a:ext cx="4932045" cy="1379587"/>
            <a:chOff x="6751955" y="3022008"/>
            <a:chExt cx="4932045" cy="1379587"/>
          </a:xfrm>
        </p:grpSpPr>
        <p:sp>
          <p:nvSpPr>
            <p:cNvPr id="13" name="Rounded Rectangle 12"/>
            <p:cNvSpPr/>
            <p:nvPr/>
          </p:nvSpPr>
          <p:spPr>
            <a:xfrm>
              <a:off x="6751955" y="3022008"/>
              <a:ext cx="4932045" cy="1379587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91655" y="3136309"/>
              <a:ext cx="4652645" cy="10484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>
                  <a:solidFill>
                    <a:srgbClr val="1C7293"/>
                  </a:solidFill>
                  <a:latin typeface="Malgun Gothic"/>
                </a:rPr>
                <a:t>components </a:t>
              </a:r>
              <a:r>
                <a:rPr sz="2200" b="1" i="0" dirty="0" err="1">
                  <a:solidFill>
                    <a:srgbClr val="1C7293"/>
                  </a:solidFill>
                  <a:latin typeface="Malgun Gothic"/>
                </a:rPr>
                <a:t>이름</a:t>
              </a:r>
              <a:endParaRPr sz="2200" b="1" i="0" dirty="0">
                <a:solidFill>
                  <a:srgbClr val="1C729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ep_reward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_&lt;name&gt;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으로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기록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metric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분석에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사용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B4355A5-EC1C-6878-BCD8-2EE866576DD4}"/>
              </a:ext>
            </a:extLst>
          </p:cNvPr>
          <p:cNvGrpSpPr/>
          <p:nvPr/>
        </p:nvGrpSpPr>
        <p:grpSpPr>
          <a:xfrm>
            <a:off x="6751955" y="4505547"/>
            <a:ext cx="4932045" cy="1379586"/>
            <a:chOff x="6751955" y="4618960"/>
            <a:chExt cx="4932045" cy="1379586"/>
          </a:xfrm>
        </p:grpSpPr>
        <p:sp>
          <p:nvSpPr>
            <p:cNvPr id="15" name="Rounded Rectangle 14"/>
            <p:cNvSpPr/>
            <p:nvPr/>
          </p:nvSpPr>
          <p:spPr>
            <a:xfrm>
              <a:off x="6751955" y="4618960"/>
              <a:ext cx="4932045" cy="1379586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91655" y="4733259"/>
              <a:ext cx="4652645" cy="104848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 err="1">
                  <a:solidFill>
                    <a:srgbClr val="D08A2C"/>
                  </a:solidFill>
                  <a:latin typeface="Malgun Gothic"/>
                </a:rPr>
                <a:t>정답</a:t>
              </a:r>
              <a:r>
                <a:rPr sz="2200" b="1" i="0" dirty="0">
                  <a:solidFill>
                    <a:srgbClr val="D08A2C"/>
                  </a:solidFill>
                  <a:latin typeface="Malgun Gothic"/>
                </a:rPr>
                <a:t> </a:t>
              </a:r>
              <a:r>
                <a:rPr sz="2200" b="1" i="0" dirty="0" err="1">
                  <a:solidFill>
                    <a:srgbClr val="D08A2C"/>
                  </a:solidFill>
                  <a:latin typeface="Malgun Gothic"/>
                </a:rPr>
                <a:t>회피</a:t>
              </a:r>
              <a:endParaRPr sz="2200" b="1" i="0" dirty="0">
                <a:solidFill>
                  <a:srgbClr val="D08A2C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전술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로직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예시는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답안처럼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보이지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않게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최소화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4.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학생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작성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my_observation.py: </a:t>
            </a:r>
            <a:r>
              <a:rPr lang="ko-KR" alt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커스텀 관측공간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499"/>
            <a:ext cx="5480050" cy="1371397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" y="1574799"/>
            <a:ext cx="5200650" cy="1111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BB3D2"/>
                </a:solidFill>
                <a:latin typeface="Malgun Gothic"/>
              </a:rPr>
              <a:t>필수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OBSERVATION_SIZE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build_observation(...)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2957031"/>
            <a:ext cx="5480050" cy="173229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700" y="3071330"/>
            <a:ext cx="5200650" cy="14724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C7293"/>
                </a:solidFill>
                <a:latin typeface="Malgun Gothic"/>
              </a:rPr>
              <a:t>선택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OBSERVATION_MODE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OBSERVATION_LOW/HIGH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describe_observation()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3950" y="1460499"/>
            <a:ext cx="5480050" cy="1227039"/>
          </a:xfrm>
          <a:prstGeom prst="roundRect">
            <a:avLst>
              <a:gd name="adj" fmla="val 8235"/>
            </a:avLst>
          </a:prstGeom>
          <a:solidFill>
            <a:srgbClr val="FFF1F2"/>
          </a:solidFill>
          <a:ln w="1270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43650" y="1574800"/>
            <a:ext cx="38100" cy="96719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0650" y="1574800"/>
            <a:ext cx="5073650" cy="9671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F96167"/>
                </a:solidFill>
                <a:latin typeface="Malgun Gothic"/>
              </a:rPr>
              <a:t>차원</a:t>
            </a:r>
            <a:r>
              <a:rPr sz="2200" b="1" i="0" dirty="0">
                <a:solidFill>
                  <a:srgbClr val="F96167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96167"/>
                </a:solidFill>
                <a:latin typeface="Malgun Gothic"/>
              </a:rPr>
              <a:t>변경</a:t>
            </a:r>
            <a:r>
              <a:rPr sz="2200" b="1" i="0" dirty="0">
                <a:solidFill>
                  <a:srgbClr val="F96167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96167"/>
                </a:solidFill>
                <a:latin typeface="Malgun Gothic"/>
              </a:rPr>
              <a:t>위험</a:t>
            </a:r>
            <a:endParaRPr sz="2200" b="1" i="0" dirty="0">
              <a:solidFill>
                <a:srgbClr val="F96167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기존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checkpoint/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bundle과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호환</a:t>
            </a:r>
            <a:r>
              <a:rPr sz="19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불가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03950" y="2830031"/>
            <a:ext cx="5480050" cy="1876648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3650" y="2944331"/>
            <a:ext cx="5200650" cy="16168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65A82"/>
                </a:solidFill>
                <a:latin typeface="Malgun Gothic"/>
              </a:rPr>
              <a:t>기록 위치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YAML env.observation_module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metadata.json observation_module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my_submission.py OBSERVATION_MODULE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Malgun Gothic"/>
              </a:rPr>
              <a:t>4. 학생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my_curriculum.py: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get_stages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()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계약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5480050" cy="4096784"/>
          </a:xfrm>
          <a:prstGeom prst="roundRect">
            <a:avLst>
              <a:gd name="adj" fmla="val 2532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" y="1587500"/>
            <a:ext cx="5175250" cy="37509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from 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dogfight.ai.curriculum</a:t>
            </a:r>
            <a:r>
              <a:rPr sz="1700" b="0" i="0" dirty="0">
                <a:solidFill>
                  <a:srgbClr val="E6EDF3"/>
                </a:solidFill>
                <a:latin typeface="Cascadia Mono"/>
              </a:rPr>
              <a:t> import 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CurriculumStage</a:t>
            </a:r>
            <a:endParaRPr sz="17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sz="17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def 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get_stages</a:t>
            </a:r>
            <a:r>
              <a:rPr sz="1700" b="0" i="0" dirty="0">
                <a:solidFill>
                  <a:srgbClr val="E6EDF3"/>
                </a:solidFill>
                <a:latin typeface="Cascadia Mono"/>
              </a:rPr>
              <a:t>() -&gt; list[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CurriculumStage</a:t>
            </a:r>
            <a:r>
              <a:rPr sz="1700" b="0" i="0" dirty="0">
                <a:solidFill>
                  <a:srgbClr val="E6EDF3"/>
                </a:solidFill>
                <a:latin typeface="Cascadia Mono"/>
              </a:rPr>
              <a:t>]: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  return [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      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CurriculumStage</a:t>
            </a:r>
            <a:r>
              <a:rPr sz="1700" b="0" i="0" dirty="0">
                <a:solidFill>
                  <a:srgbClr val="E6EDF3"/>
                </a:solidFill>
                <a:latin typeface="Cascadia Mono"/>
              </a:rPr>
              <a:t>(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          name=...,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          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initial_scenario</a:t>
            </a:r>
            <a:r>
              <a:rPr sz="1700" b="0" i="0" dirty="0">
                <a:solidFill>
                  <a:srgbClr val="E6EDF3"/>
                </a:solidFill>
                <a:latin typeface="Cascadia Mono"/>
              </a:rPr>
              <a:t>=..., ...),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     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 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3950" y="1460499"/>
            <a:ext cx="5480050" cy="1906477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43650" y="1574799"/>
            <a:ext cx="5200650" cy="16205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08A2C"/>
                </a:solidFill>
                <a:latin typeface="Malgun Gothic"/>
              </a:rPr>
              <a:t>기본 curriculum 참고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Stage 0~3: survival / pursuit / WEZ / autopilot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Stage 4~13: two_circle_headon a000~a180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Stage 14: full_dogfight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3950" y="3565153"/>
            <a:ext cx="5480050" cy="1112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3650" y="3679453"/>
            <a:ext cx="5200650" cy="826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1C7293"/>
                </a:solidFill>
                <a:latin typeface="Malgun Gothic"/>
              </a:rPr>
              <a:t>실행</a:t>
            </a:r>
            <a:endParaRPr sz="2200" b="1" i="0" dirty="0">
              <a:solidFill>
                <a:srgbClr val="1C729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 dirty="0">
                <a:solidFill>
                  <a:srgbClr val="1B2733"/>
                </a:solidFill>
                <a:latin typeface="Malgun Gothic"/>
              </a:rPr>
              <a:t>--stages-module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student.my_curriculum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03950" y="5183662"/>
            <a:ext cx="5480050" cy="4766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900" b="0" i="1" dirty="0" err="1">
                <a:solidFill>
                  <a:srgbClr val="1B2733"/>
                </a:solidFill>
                <a:latin typeface="Malgun Gothic"/>
              </a:rPr>
              <a:t>기본</a:t>
            </a:r>
            <a:r>
              <a:rPr sz="19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1" dirty="0" err="1">
                <a:solidFill>
                  <a:srgbClr val="1B2733"/>
                </a:solidFill>
                <a:latin typeface="Malgun Gothic"/>
              </a:rPr>
              <a:t>stage는</a:t>
            </a:r>
            <a:r>
              <a:rPr sz="19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1" dirty="0" err="1">
                <a:solidFill>
                  <a:srgbClr val="1B2733"/>
                </a:solidFill>
                <a:latin typeface="Malgun Gothic"/>
              </a:rPr>
              <a:t>출발점이</a:t>
            </a:r>
            <a:r>
              <a:rPr sz="19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1" dirty="0" err="1">
                <a:solidFill>
                  <a:srgbClr val="1B2733"/>
                </a:solidFill>
                <a:latin typeface="Malgun Gothic"/>
              </a:rPr>
              <a:t>아니라</a:t>
            </a:r>
            <a:r>
              <a:rPr sz="19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1" dirty="0" err="1">
                <a:solidFill>
                  <a:srgbClr val="1B2733"/>
                </a:solidFill>
                <a:latin typeface="Malgun Gothic"/>
              </a:rPr>
              <a:t>계약</a:t>
            </a:r>
            <a:r>
              <a:rPr sz="19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1" dirty="0" err="1">
                <a:solidFill>
                  <a:srgbClr val="1B2733"/>
                </a:solidFill>
                <a:latin typeface="Malgun Gothic"/>
              </a:rPr>
              <a:t>확인용</a:t>
            </a:r>
            <a:r>
              <a:rPr sz="19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900" b="0" i="1" dirty="0" err="1">
                <a:solidFill>
                  <a:srgbClr val="1B2733"/>
                </a:solidFill>
                <a:latin typeface="Malgun Gothic"/>
              </a:rPr>
              <a:t>참고입니다</a:t>
            </a:r>
            <a:r>
              <a:rPr sz="1900" b="0" i="1" dirty="0">
                <a:solidFill>
                  <a:srgbClr val="1B2733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4.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학생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작성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my_train.py는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wrapper ·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train_rllib.py가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본체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5499100" cy="2508988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" y="1574799"/>
            <a:ext cx="5219700" cy="225808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1F8A5F"/>
                </a:solidFill>
                <a:latin typeface="Malgun Gothic"/>
              </a:rPr>
              <a:t>my_train.py (</a:t>
            </a:r>
            <a:r>
              <a:rPr sz="2200" b="1" i="0" dirty="0" err="1">
                <a:solidFill>
                  <a:srgbClr val="1F8A5F"/>
                </a:solidFill>
                <a:latin typeface="Malgun Gothic"/>
              </a:rPr>
              <a:t>학생</a:t>
            </a:r>
            <a:r>
              <a:rPr sz="2200" b="1" i="0" dirty="0">
                <a:solidFill>
                  <a:srgbClr val="1F8A5F"/>
                </a:solidFill>
                <a:latin typeface="Malgun Gothic"/>
              </a:rPr>
              <a:t>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200" b="0" i="0" dirty="0">
                <a:solidFill>
                  <a:srgbClr val="1B2733"/>
                </a:solidFill>
                <a:latin typeface="Malgun Gothic"/>
              </a:rPr>
              <a:t>TRAINING_CONFIG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 dirty="0">
                <a:solidFill>
                  <a:srgbClr val="1B2733"/>
                </a:solidFill>
                <a:latin typeface="Malgun Gothic"/>
              </a:rPr>
              <a:t>ENV_CONFIG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 dirty="0">
                <a:solidFill>
                  <a:srgbClr val="1B2733"/>
                </a:solidFill>
                <a:latin typeface="Malgun Gothic"/>
              </a:rPr>
              <a:t>RL_CONFIG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공통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trainer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호출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wrapper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4900" y="1460500"/>
            <a:ext cx="5499100" cy="2508988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4600" y="1574799"/>
            <a:ext cx="5219700" cy="225808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65A82"/>
                </a:solidFill>
                <a:latin typeface="Malgun Gothic"/>
              </a:rPr>
              <a:t>train_rllib.py (본체)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200" b="0" i="0">
                <a:solidFill>
                  <a:srgbClr val="1B2733"/>
                </a:solidFill>
                <a:latin typeface="Malgun Gothic"/>
              </a:rPr>
              <a:t>학습 루프, Ray 초기화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>
                <a:solidFill>
                  <a:srgbClr val="1B2733"/>
                </a:solidFill>
                <a:latin typeface="Malgun Gothic"/>
              </a:rPr>
              <a:t>checkpoint / bundle 저장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>
                <a:solidFill>
                  <a:srgbClr val="1B2733"/>
                </a:solidFill>
                <a:latin typeface="Malgun Gothic"/>
              </a:rPr>
              <a:t>logging / dashboard /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4440272"/>
            <a:ext cx="11176000" cy="1122680"/>
          </a:xfrm>
          <a:prstGeom prst="roundRect">
            <a:avLst>
              <a:gd name="adj" fmla="val 6787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400" y="4567272"/>
            <a:ext cx="108712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0" i="0" dirty="0">
                <a:solidFill>
                  <a:srgbClr val="E6EDF3"/>
                </a:solidFill>
                <a:latin typeface="Cascadia Mono"/>
              </a:rPr>
              <a:t>python train_rllib.py --algorithm sac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0" i="0" dirty="0">
                <a:solidFill>
                  <a:srgbClr val="E6EDF3"/>
                </a:solidFill>
                <a:latin typeface="Cascadia Mono"/>
              </a:rPr>
              <a:t>  --reward-module </a:t>
            </a:r>
            <a:r>
              <a:rPr sz="1600" b="0" i="0" dirty="0" err="1">
                <a:solidFill>
                  <a:srgbClr val="E6EDF3"/>
                </a:solidFill>
                <a:latin typeface="Cascadia Mono"/>
              </a:rPr>
              <a:t>student.my_reward</a:t>
            </a:r>
            <a:endParaRPr sz="16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600" b="0" i="0" dirty="0">
                <a:solidFill>
                  <a:srgbClr val="E6EDF3"/>
                </a:solidFill>
                <a:latin typeface="Cascadia Mono"/>
              </a:rPr>
              <a:t>  --output-name team01 --output-tag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5803305"/>
            <a:ext cx="11176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000" b="1" i="0" dirty="0">
                <a:latin typeface="Malgun Gothic"/>
              </a:rPr>
              <a:t>공통 학습 루프를 담은 본체의 수정은 지양합니다</a:t>
            </a:r>
            <a:r>
              <a:rPr lang="en-US" altLang="ko-KR" sz="2000" b="1" i="0" dirty="0">
                <a:latin typeface="Malgun Gothic"/>
              </a:rPr>
              <a:t>.</a:t>
            </a:r>
            <a:endParaRPr lang="ko-KR" altLang="en-US" sz="2000" b="1" i="0" dirty="0">
              <a:latin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5.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실험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관리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YAML 템플릿 6종: 실험 조건을 보존합니다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460500"/>
            <a:ext cx="3333193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596900" y="1519451"/>
            <a:ext cx="315539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템플릿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1193" y="1460500"/>
            <a:ext cx="4313544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3930093" y="1519451"/>
            <a:ext cx="4135744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용도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4737" y="1460500"/>
            <a:ext cx="3529263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8243637" y="1519451"/>
            <a:ext cx="335146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주요 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1803400"/>
            <a:ext cx="3333193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96900" y="1932201"/>
            <a:ext cx="315539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student_sac_mlp.yaml
student_ppo_mlp.yaml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1193" y="1803400"/>
            <a:ext cx="4313544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3930093" y="1932201"/>
            <a:ext cx="4135744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일반 학생 시작점
MLP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4737" y="1803400"/>
            <a:ext cx="3529263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243637" y="1932201"/>
            <a:ext cx="335146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algo.mlp
reward/observation module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2286000"/>
            <a:ext cx="3333193" cy="4826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596900" y="2414801"/>
            <a:ext cx="315539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student_sac_lstm.yaml
student_ppo_lstm.yaml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1193" y="2286000"/>
            <a:ext cx="4313544" cy="4826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3930093" y="2414801"/>
            <a:ext cx="4135744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LSTM 경로
SAC는 RLLibLstm 패치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4737" y="2286000"/>
            <a:ext cx="3529263" cy="4826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8243637" y="2414801"/>
            <a:ext cx="335146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algo.lstm
algo.network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2768600"/>
            <a:ext cx="3333193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596900" y="2897401"/>
            <a:ext cx="315539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student_mixed_initial_sac_mlp.yaml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1193" y="2768600"/>
            <a:ext cx="4313544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30" name="TextBox 29"/>
          <p:cNvSpPr txBox="1"/>
          <p:nvPr/>
        </p:nvSpPr>
        <p:spPr>
          <a:xfrm>
            <a:off x="3930093" y="2897401"/>
            <a:ext cx="4135744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BT/loiter target 혼합
MLP 예시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4737" y="2768600"/>
            <a:ext cx="3529263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32" name="TextBox 31"/>
          <p:cNvSpPr txBox="1"/>
          <p:nvPr/>
        </p:nvSpPr>
        <p:spPr>
          <a:xfrm>
            <a:off x="8243637" y="2897401"/>
            <a:ext cx="335146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env_config.initial_scenario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251200"/>
            <a:ext cx="3333193" cy="4826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596900" y="3380001"/>
            <a:ext cx="315539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student_mixed_initial_sac_lstm.yaml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1193" y="3251200"/>
            <a:ext cx="4313544" cy="4826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3930093" y="3380001"/>
            <a:ext cx="4135744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mixed initial + SAC LSTM
고급 예시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4737" y="3251200"/>
            <a:ext cx="3529263" cy="4826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/>
          </a:p>
        </p:txBody>
      </p:sp>
      <p:sp>
        <p:nvSpPr>
          <p:cNvPr id="38" name="TextBox 37"/>
          <p:cNvSpPr txBox="1"/>
          <p:nvPr/>
        </p:nvSpPr>
        <p:spPr>
          <a:xfrm>
            <a:off x="8243637" y="3380001"/>
            <a:ext cx="335146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RLLibLstm
initial_scenario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5.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실험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관리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dry-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run으로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실제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명령을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먼저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11176000" cy="864486"/>
          </a:xfrm>
          <a:prstGeom prst="roundRect">
            <a:avLst>
              <a:gd name="adj" fmla="val 13605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" y="1587499"/>
            <a:ext cx="10871200" cy="4724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python scripts\run_experiment.py experiments\student_sac_mlp.yaml --dry-run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2675563"/>
            <a:ext cx="5499100" cy="226897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700" y="2789863"/>
            <a:ext cx="5219700" cy="1928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1C7293"/>
                </a:solidFill>
                <a:latin typeface="Malgun Gothic"/>
              </a:rPr>
              <a:t>dry-run이 보여주는 것
YAML → CLI 변환 결과
output.name / tag
선택된 module path
env_config nested 설정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sz="19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sz="19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84900" y="2675563"/>
            <a:ext cx="5499100" cy="226897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4600" y="2789863"/>
            <a:ext cx="5219700" cy="1928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1F8A5F"/>
                </a:solidFill>
                <a:latin typeface="Malgun Gothic"/>
              </a:rPr>
              <a:t>바로 다음 단계
짧은 iterations로 smoke
관측 shape / reward 반환 확인
bundle 저장 확인</a:t>
            </a:r>
            <a:endParaRPr sz="2200" b="1" i="0" dirty="0">
              <a:solidFill>
                <a:srgbClr val="1F8A5F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sz="2200" b="1" i="0" dirty="0">
              <a:solidFill>
                <a:srgbClr val="1F8A5F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sz="19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sz="19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8000" y="5513870"/>
            <a:ext cx="11176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YAML은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조건을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기록하고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, Python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아이디어는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module로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000" b="0" i="1" dirty="0" err="1">
                <a:solidFill>
                  <a:srgbClr val="1B2733"/>
                </a:solidFill>
                <a:latin typeface="Malgun Gothic"/>
              </a:rPr>
              <a:t>주입합니다</a:t>
            </a:r>
            <a:r>
              <a:rPr sz="2000" b="0" i="1" dirty="0">
                <a:solidFill>
                  <a:srgbClr val="1B2733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5.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실험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관리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두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실험을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비교할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때는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숫자와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조건을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함께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4872228" cy="2048244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647700" y="1574799"/>
            <a:ext cx="4592828" cy="17410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b="1" i="0" dirty="0">
                <a:solidFill>
                  <a:srgbClr val="1C7293"/>
                </a:solidFill>
                <a:latin typeface="Malgun Gothic"/>
              </a:rPr>
              <a:t>Run A · sac_mlp_v1
YAML: student_sac_mlp.yaml
config.json observation_module 확인
metrics.jsonl reward_mean, crash_rate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sz="14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sz="14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sz="14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sz="14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31028" y="1460500"/>
            <a:ext cx="482600" cy="20482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54606C"/>
                </a:solidFill>
                <a:latin typeface="Malgun Gothic"/>
              </a:rP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4428" y="1460500"/>
            <a:ext cx="4872228" cy="2048244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6104128" y="1574799"/>
            <a:ext cx="4592828" cy="17410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b="1" i="0" dirty="0">
                <a:solidFill>
                  <a:srgbClr val="065A82"/>
                </a:solidFill>
                <a:latin typeface="Malgun Gothic"/>
              </a:rPr>
              <a:t>Run B · mixed_initial_sac_mlp_v1
YAML: student_mixed_initial_sac_mlp.yaml
initial_scenario 분포 확인
metrics.jsonl win_rate, ep_min_distance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sz="14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sz="14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lang="en-US" sz="14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lang="en-US" sz="14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8000" y="4008765"/>
            <a:ext cx="3632200" cy="1768258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700" y="4123065"/>
            <a:ext cx="3352800" cy="143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F8A5F"/>
                </a:solidFill>
                <a:latin typeface="Malgun Gothic"/>
              </a:rPr>
              <a:t>metrics.jsonl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reward_mean 추세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crash_rate, win_rate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900" y="4008765"/>
            <a:ext cx="3632200" cy="1768258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9600" y="4123065"/>
            <a:ext cx="3352800" cy="143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D08A2C"/>
                </a:solidFill>
                <a:latin typeface="Malgun Gothic"/>
              </a:rPr>
              <a:t>config.json</a:t>
            </a:r>
            <a:endParaRPr sz="2200" b="1" i="0" dirty="0">
              <a:solidFill>
                <a:srgbClr val="D08A2C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 dirty="0">
                <a:solidFill>
                  <a:srgbClr val="1B2733"/>
                </a:solidFill>
                <a:latin typeface="Malgun Gothic"/>
              </a:rPr>
              <a:t>YAML/CLI </a:t>
            </a:r>
            <a:r>
              <a:rPr sz="1900" b="0" i="0" dirty="0" err="1">
                <a:solidFill>
                  <a:srgbClr val="1B2733"/>
                </a:solidFill>
                <a:latin typeface="Malgun Gothic"/>
              </a:rPr>
              <a:t>설정</a:t>
            </a:r>
            <a:endParaRPr sz="19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 dirty="0">
                <a:solidFill>
                  <a:srgbClr val="1B2733"/>
                </a:solidFill>
                <a:latin typeface="Malgun Gothic"/>
              </a:rPr>
              <a:t>reward / observation module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1800" y="4008765"/>
            <a:ext cx="3632200" cy="1768258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1500" y="4123065"/>
            <a:ext cx="3352800" cy="143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96167"/>
                </a:solidFill>
                <a:latin typeface="Malgun Gothic"/>
              </a:rPr>
              <a:t>metadata.json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obs_mode / observation_module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900" b="0" i="0">
                <a:solidFill>
                  <a:srgbClr val="1B2733"/>
                </a:solidFill>
                <a:latin typeface="Malgun Gothic"/>
              </a:rPr>
              <a:t>bundle 해석 기준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5.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실험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관리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모델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bundle은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학습 모델의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제출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단위입니다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5754053" cy="1665472"/>
          </a:xfrm>
          <a:prstGeom prst="roundRect">
            <a:avLst>
              <a:gd name="adj" fmla="val 5366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" y="1587500"/>
            <a:ext cx="5449253" cy="136753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b="0" i="0" dirty="0">
                <a:solidFill>
                  <a:srgbClr val="E6EDF3"/>
                </a:solidFill>
                <a:latin typeface="Cascadia Mono"/>
              </a:rPr>
              <a:t>artifacts/models/&lt;team&gt;/&lt;tag&gt;/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b="0" i="0" dirty="0">
                <a:solidFill>
                  <a:srgbClr val="E6EDF3"/>
                </a:solidFill>
                <a:latin typeface="Cascadia Mono"/>
              </a:rPr>
              <a:t>├ </a:t>
            </a:r>
            <a:r>
              <a:rPr b="0" i="0" dirty="0" err="1">
                <a:solidFill>
                  <a:srgbClr val="E6EDF3"/>
                </a:solidFill>
                <a:latin typeface="Cascadia Mono"/>
              </a:rPr>
              <a:t>metadata.json</a:t>
            </a:r>
            <a:endParaRPr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b="0" i="0" dirty="0">
                <a:solidFill>
                  <a:srgbClr val="E6EDF3"/>
                </a:solidFill>
                <a:latin typeface="Cascadia Mono"/>
              </a:rPr>
              <a:t>└ policy_weights.pkl.gz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927D66C-FAD7-D976-7074-646354C78370}"/>
              </a:ext>
            </a:extLst>
          </p:cNvPr>
          <p:cNvGrpSpPr/>
          <p:nvPr/>
        </p:nvGrpSpPr>
        <p:grpSpPr>
          <a:xfrm>
            <a:off x="6477953" y="1460499"/>
            <a:ext cx="5206047" cy="1764709"/>
            <a:chOff x="6477953" y="1460499"/>
            <a:chExt cx="5206047" cy="1764709"/>
          </a:xfrm>
        </p:grpSpPr>
        <p:sp>
          <p:nvSpPr>
            <p:cNvPr id="11" name="Rounded Rectangle 10"/>
            <p:cNvSpPr/>
            <p:nvPr/>
          </p:nvSpPr>
          <p:spPr>
            <a:xfrm>
              <a:off x="6477953" y="1460499"/>
              <a:ext cx="5206047" cy="1764709"/>
            </a:xfrm>
            <a:prstGeom prst="roundRect">
              <a:avLst>
                <a:gd name="adj" fmla="val 8235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17653" y="1574800"/>
              <a:ext cx="4926647" cy="139100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 err="1">
                  <a:solidFill>
                    <a:srgbClr val="1C7293"/>
                  </a:solidFill>
                  <a:latin typeface="Malgun Gothic"/>
                </a:rPr>
                <a:t>metadata.json</a:t>
              </a:r>
              <a:r>
                <a:rPr sz="2200" b="1" i="0" dirty="0">
                  <a:solidFill>
                    <a:srgbClr val="1C7293"/>
                  </a:solidFill>
                  <a:latin typeface="Malgun Gothic"/>
                </a:rPr>
                <a:t> </a:t>
              </a:r>
              <a:r>
                <a:rPr sz="2200" b="1" i="0" dirty="0" err="1">
                  <a:solidFill>
                    <a:srgbClr val="1C7293"/>
                  </a:solidFill>
                  <a:latin typeface="Malgun Gothic"/>
                </a:rPr>
                <a:t>확인</a:t>
              </a:r>
              <a:r>
                <a:rPr sz="2200" b="1" i="0" dirty="0">
                  <a:solidFill>
                    <a:srgbClr val="1C7293"/>
                  </a:solidFill>
                  <a:latin typeface="Malgun Gothic"/>
                </a:rPr>
                <a:t> 키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algorithm</a:t>
              </a: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obs_mode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/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observation_module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reward_module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4618541-DCB1-6CA3-CB0A-3EF2EB13822C}"/>
              </a:ext>
            </a:extLst>
          </p:cNvPr>
          <p:cNvGrpSpPr/>
          <p:nvPr/>
        </p:nvGrpSpPr>
        <p:grpSpPr>
          <a:xfrm>
            <a:off x="6477953" y="3398130"/>
            <a:ext cx="5206047" cy="1422995"/>
            <a:chOff x="6477953" y="3510511"/>
            <a:chExt cx="5206047" cy="1422995"/>
          </a:xfrm>
        </p:grpSpPr>
        <p:sp>
          <p:nvSpPr>
            <p:cNvPr id="13" name="Rounded Rectangle 12"/>
            <p:cNvSpPr/>
            <p:nvPr/>
          </p:nvSpPr>
          <p:spPr>
            <a:xfrm>
              <a:off x="6477953" y="3510511"/>
              <a:ext cx="5206047" cy="1422995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17653" y="3624812"/>
              <a:ext cx="4926647" cy="10814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>
                  <a:solidFill>
                    <a:srgbClr val="1F8A5F"/>
                  </a:solidFill>
                  <a:latin typeface="Malgun Gothic"/>
                </a:rPr>
                <a:t>policy_weights.pkl.gz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경량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정책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weight</a:t>
              </a: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Native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checkpoint와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분리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2AAAB34-ECA9-AA77-7451-ED362DF17257}"/>
              </a:ext>
            </a:extLst>
          </p:cNvPr>
          <p:cNvGrpSpPr/>
          <p:nvPr/>
        </p:nvGrpSpPr>
        <p:grpSpPr>
          <a:xfrm>
            <a:off x="6477953" y="4994047"/>
            <a:ext cx="5206047" cy="1029297"/>
            <a:chOff x="6477953" y="5142902"/>
            <a:chExt cx="5206047" cy="1029297"/>
          </a:xfrm>
        </p:grpSpPr>
        <p:sp>
          <p:nvSpPr>
            <p:cNvPr id="15" name="Rounded Rectangle 14"/>
            <p:cNvSpPr/>
            <p:nvPr/>
          </p:nvSpPr>
          <p:spPr>
            <a:xfrm>
              <a:off x="6477953" y="5142902"/>
              <a:ext cx="5206047" cy="1029297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17653" y="5257203"/>
              <a:ext cx="4926647" cy="6924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>
                  <a:solidFill>
                    <a:srgbClr val="065A82"/>
                  </a:solidFill>
                  <a:latin typeface="Malgun Gothic"/>
                </a:rPr>
                <a:t>bundle </a:t>
              </a:r>
              <a:r>
                <a:rPr sz="2200" b="1" i="0" dirty="0" err="1">
                  <a:solidFill>
                    <a:srgbClr val="065A82"/>
                  </a:solidFill>
                  <a:latin typeface="Malgun Gothic"/>
                </a:rPr>
                <a:t>사용</a:t>
              </a:r>
              <a:r>
                <a:rPr sz="2200" b="1" i="0" dirty="0">
                  <a:solidFill>
                    <a:srgbClr val="065A82"/>
                  </a:solidFill>
                  <a:latin typeface="Malgun Gothic"/>
                </a:rPr>
                <a:t> </a:t>
              </a:r>
              <a:r>
                <a:rPr sz="2200" b="1" i="0" dirty="0" err="1">
                  <a:solidFill>
                    <a:srgbClr val="065A82"/>
                  </a:solidFill>
                  <a:latin typeface="Malgun Gothic"/>
                </a:rPr>
                <a:t>위치</a:t>
              </a:r>
              <a:endParaRPr sz="2200" b="1" i="0" dirty="0">
                <a:solidFill>
                  <a:srgbClr val="065A82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로컬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검증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/ Unreal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제출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6.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학습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실행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PPO와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SAC는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선택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가능한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도구입니다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5480050" cy="271873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" y="1574800"/>
            <a:ext cx="5200650" cy="2439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065A82"/>
                </a:solidFill>
                <a:latin typeface="Malgun Gothic"/>
              </a:rPr>
              <a:t>PPO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정책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업데이트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폭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제한</a:t>
            </a:r>
            <a:endParaRPr sz="22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비교적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안정적인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baseline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 dirty="0">
                <a:solidFill>
                  <a:srgbClr val="1B2733"/>
                </a:solidFill>
                <a:latin typeface="Malgun Gothic"/>
              </a:rPr>
              <a:t>clip-param,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gae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-lambda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3950" y="1460500"/>
            <a:ext cx="5480050" cy="271873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43650" y="1574800"/>
            <a:ext cx="5200650" cy="2439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1F8A5F"/>
                </a:solidFill>
                <a:latin typeface="Malgun Gothic"/>
              </a:rPr>
              <a:t>SAC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200" b="0" i="0" dirty="0">
                <a:solidFill>
                  <a:srgbClr val="1B2733"/>
                </a:solidFill>
                <a:latin typeface="Malgun Gothic"/>
              </a:rPr>
              <a:t>entropy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기반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탐색</a:t>
            </a:r>
            <a:endParaRPr sz="22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연속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제어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실험에</a:t>
            </a:r>
            <a:r>
              <a:rPr sz="22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2200" b="0" i="0" dirty="0" err="1">
                <a:solidFill>
                  <a:srgbClr val="1B2733"/>
                </a:solidFill>
                <a:latin typeface="Malgun Gothic"/>
              </a:rPr>
              <a:t>적합</a:t>
            </a:r>
            <a:endParaRPr sz="22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2200" b="0" i="0" dirty="0">
                <a:solidFill>
                  <a:srgbClr val="1B2733"/>
                </a:solidFill>
                <a:latin typeface="Malgun Gothic"/>
              </a:rPr>
              <a:t>tau, target-entropy</a:t>
            </a:r>
            <a:endParaRPr lang="en-US" sz="22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2200" b="0" i="0" dirty="0">
                <a:solidFill>
                  <a:srgbClr val="1B2733"/>
                </a:solidFill>
                <a:latin typeface="Malgun Gothic"/>
              </a:rPr>
              <a:t>LSTM/RNNSAC</a:t>
            </a:r>
            <a:r>
              <a:rPr lang="ko-KR" altLang="en-US" sz="2200" b="0" i="0" dirty="0">
                <a:solidFill>
                  <a:srgbClr val="1B2733"/>
                </a:solidFill>
                <a:latin typeface="Malgun Gothic"/>
              </a:rPr>
              <a:t>는 </a:t>
            </a:r>
            <a:r>
              <a:rPr lang="en-US" altLang="ko-KR" sz="2200" b="0" i="0" dirty="0" err="1">
                <a:solidFill>
                  <a:srgbClr val="1B2733"/>
                </a:solidFill>
                <a:latin typeface="Malgun Gothic"/>
              </a:rPr>
              <a:t>RLlib</a:t>
            </a:r>
            <a:r>
              <a:rPr lang="en-US" altLang="ko-KR" sz="22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lang="ko-KR" altLang="en-US" sz="2200" b="0" i="0" dirty="0">
                <a:solidFill>
                  <a:srgbClr val="1B2733"/>
                </a:solidFill>
                <a:latin typeface="Malgun Gothic"/>
              </a:rPr>
              <a:t>패치 필요</a:t>
            </a:r>
            <a:endParaRPr sz="2200" b="0" i="0" dirty="0">
              <a:solidFill>
                <a:srgbClr val="1B273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6.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학습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실행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처음에는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짧게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의존성부터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확인합니다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2368763"/>
            <a:ext cx="5480050" cy="1084226"/>
          </a:xfrm>
          <a:prstGeom prst="roundRect">
            <a:avLst>
              <a:gd name="adj" fmla="val 14457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" y="2495762"/>
            <a:ext cx="5175250" cy="9351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0" i="0" dirty="0">
                <a:solidFill>
                  <a:srgbClr val="E6EDF3"/>
                </a:solidFill>
                <a:latin typeface="Cascadia Mono"/>
              </a:rPr>
              <a:t>python train_rllib.py --algorithm sac --iterations 1 --output-name team01 --output-tag smoke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3891996"/>
            <a:ext cx="5480050" cy="508767"/>
          </a:xfrm>
          <a:prstGeom prst="roundRect">
            <a:avLst>
              <a:gd name="adj" fmla="val 13215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400" y="4018997"/>
            <a:ext cx="5175250" cy="284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0" i="0" dirty="0">
                <a:solidFill>
                  <a:srgbClr val="E6EDF3"/>
                </a:solidFill>
                <a:latin typeface="Cascadia Mono"/>
              </a:rPr>
              <a:t>python student\my_train.py --iterations 1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8403305-D885-8FF1-4A3E-EE1BE1EB7607}"/>
              </a:ext>
            </a:extLst>
          </p:cNvPr>
          <p:cNvGrpSpPr/>
          <p:nvPr/>
        </p:nvGrpSpPr>
        <p:grpSpPr>
          <a:xfrm>
            <a:off x="6203950" y="1460499"/>
            <a:ext cx="5480050" cy="1015999"/>
            <a:chOff x="6203950" y="1460499"/>
            <a:chExt cx="5480050" cy="1015999"/>
          </a:xfrm>
        </p:grpSpPr>
        <p:sp>
          <p:nvSpPr>
            <p:cNvPr id="13" name="Rounded Rectangle 12"/>
            <p:cNvSpPr/>
            <p:nvPr/>
          </p:nvSpPr>
          <p:spPr>
            <a:xfrm>
              <a:off x="6203950" y="1460499"/>
              <a:ext cx="5480050" cy="1015999"/>
            </a:xfrm>
            <a:prstGeom prst="roundRect">
              <a:avLst>
                <a:gd name="adj" fmla="val 11666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43650" y="1574799"/>
              <a:ext cx="5200650" cy="7111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 err="1">
                  <a:solidFill>
                    <a:srgbClr val="D08A2C"/>
                  </a:solidFill>
                  <a:latin typeface="Malgun Gothic"/>
                </a:rPr>
                <a:t>초기</a:t>
              </a:r>
              <a:r>
                <a:rPr sz="2200" b="1" i="0" dirty="0">
                  <a:solidFill>
                    <a:srgbClr val="D08A2C"/>
                  </a:solidFill>
                  <a:latin typeface="Malgun Gothic"/>
                </a:rPr>
                <a:t> </a:t>
              </a:r>
              <a:r>
                <a:rPr sz="2200" b="1" i="0" dirty="0" err="1">
                  <a:solidFill>
                    <a:srgbClr val="D08A2C"/>
                  </a:solidFill>
                  <a:latin typeface="Malgun Gothic"/>
                </a:rPr>
                <a:t>목표</a:t>
              </a:r>
              <a:endParaRPr sz="2200" b="1" i="0" dirty="0">
                <a:solidFill>
                  <a:srgbClr val="D08A2C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좋은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reward가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아니라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실행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가능성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확인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5E3F344-1DE0-146A-8671-CCBE9031BF2C}"/>
              </a:ext>
            </a:extLst>
          </p:cNvPr>
          <p:cNvGrpSpPr/>
          <p:nvPr/>
        </p:nvGrpSpPr>
        <p:grpSpPr>
          <a:xfrm>
            <a:off x="6203950" y="2611772"/>
            <a:ext cx="5480050" cy="1499483"/>
            <a:chOff x="6203950" y="2611773"/>
            <a:chExt cx="5480050" cy="1016000"/>
          </a:xfrm>
        </p:grpSpPr>
        <p:sp>
          <p:nvSpPr>
            <p:cNvPr id="15" name="Rounded Rectangle 14"/>
            <p:cNvSpPr/>
            <p:nvPr/>
          </p:nvSpPr>
          <p:spPr>
            <a:xfrm>
              <a:off x="6203950" y="2611773"/>
              <a:ext cx="5480050" cy="1016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43650" y="2726073"/>
              <a:ext cx="5200650" cy="787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>
                  <a:solidFill>
                    <a:srgbClr val="1C7293"/>
                  </a:solidFill>
                  <a:latin typeface="Malgun Gothic"/>
                </a:rPr>
                <a:t>Ray/</a:t>
              </a:r>
              <a:r>
                <a:rPr sz="2200" b="1" i="0" dirty="0" err="1">
                  <a:solidFill>
                    <a:srgbClr val="1C7293"/>
                  </a:solidFill>
                  <a:latin typeface="Malgun Gothic"/>
                </a:rPr>
                <a:t>RLlib</a:t>
              </a:r>
              <a:r>
                <a:rPr sz="2200" b="1" i="0" dirty="0">
                  <a:solidFill>
                    <a:srgbClr val="1C7293"/>
                  </a:solidFill>
                  <a:latin typeface="Malgun Gothic"/>
                </a:rPr>
                <a:t> </a:t>
              </a:r>
              <a:r>
                <a:rPr sz="2200" b="1" i="0" dirty="0" err="1">
                  <a:solidFill>
                    <a:srgbClr val="1C7293"/>
                  </a:solidFill>
                  <a:latin typeface="Malgun Gothic"/>
                </a:rPr>
                <a:t>의존성</a:t>
              </a:r>
              <a:endParaRPr sz="2200" b="1" i="0" dirty="0">
                <a:solidFill>
                  <a:srgbClr val="1C729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짧은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smoke로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빌드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/import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확인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긴 Ray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실행은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본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학습에서만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DBAD582-D262-BBAC-D72F-7B0AC13AE7DF}"/>
              </a:ext>
            </a:extLst>
          </p:cNvPr>
          <p:cNvGrpSpPr/>
          <p:nvPr/>
        </p:nvGrpSpPr>
        <p:grpSpPr>
          <a:xfrm>
            <a:off x="6203950" y="4246529"/>
            <a:ext cx="5480050" cy="1499482"/>
            <a:chOff x="6203950" y="4584108"/>
            <a:chExt cx="5480050" cy="1143000"/>
          </a:xfrm>
        </p:grpSpPr>
        <p:sp>
          <p:nvSpPr>
            <p:cNvPr id="17" name="Rounded Rectangle 16"/>
            <p:cNvSpPr/>
            <p:nvPr/>
          </p:nvSpPr>
          <p:spPr>
            <a:xfrm>
              <a:off x="6203950" y="4584108"/>
              <a:ext cx="5480050" cy="1143000"/>
            </a:xfrm>
            <a:prstGeom prst="roundRect">
              <a:avLst>
                <a:gd name="adj" fmla="val 7777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343650" y="4698408"/>
              <a:ext cx="520065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 err="1">
                  <a:solidFill>
                    <a:srgbClr val="1F8A5F"/>
                  </a:solidFill>
                  <a:latin typeface="Malgun Gothic"/>
                </a:rPr>
                <a:t>이후</a:t>
              </a:r>
              <a:r>
                <a:rPr sz="2200" b="1" i="0" dirty="0">
                  <a:solidFill>
                    <a:srgbClr val="1F8A5F"/>
                  </a:solidFill>
                  <a:latin typeface="Malgun Gothic"/>
                </a:rPr>
                <a:t> </a:t>
              </a:r>
              <a:r>
                <a:rPr sz="2200" b="1" i="0" dirty="0" err="1">
                  <a:solidFill>
                    <a:srgbClr val="1F8A5F"/>
                  </a:solidFill>
                  <a:latin typeface="Malgun Gothic"/>
                </a:rPr>
                <a:t>확대</a:t>
              </a:r>
              <a:endParaRPr sz="2200" b="1" i="0" dirty="0">
                <a:solidFill>
                  <a:srgbClr val="1F8A5F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관측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shape, reward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반환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, bundle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저장을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먼저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안정화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후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iterations와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batch를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키운다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sp>
        <p:nvSpPr>
          <p:cNvPr id="2" name="Rounded Rectangle 10">
            <a:extLst>
              <a:ext uri="{FF2B5EF4-FFF2-40B4-BE49-F238E27FC236}">
                <a16:creationId xmlns:a16="http://schemas.microsoft.com/office/drawing/2014/main" id="{B91351D9-72BC-5970-21C3-28D150D14CFF}"/>
              </a:ext>
            </a:extLst>
          </p:cNvPr>
          <p:cNvSpPr/>
          <p:nvPr/>
        </p:nvSpPr>
        <p:spPr>
          <a:xfrm>
            <a:off x="508000" y="1504692"/>
            <a:ext cx="5480050" cy="508767"/>
          </a:xfrm>
          <a:prstGeom prst="roundRect">
            <a:avLst>
              <a:gd name="adj" fmla="val 13215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50CA5-C9E7-9E28-0375-DADE6C771B3C}"/>
              </a:ext>
            </a:extLst>
          </p:cNvPr>
          <p:cNvSpPr txBox="1"/>
          <p:nvPr/>
        </p:nvSpPr>
        <p:spPr>
          <a:xfrm>
            <a:off x="660400" y="1631693"/>
            <a:ext cx="5175250" cy="284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sz="1500" b="0" i="0" dirty="0">
                <a:solidFill>
                  <a:srgbClr val="E6EDF3"/>
                </a:solidFill>
                <a:latin typeface="Cascadia Mono"/>
              </a:rPr>
              <a:t>ray stop –force</a:t>
            </a:r>
            <a:endParaRPr sz="1500" b="0" i="0" dirty="0">
              <a:solidFill>
                <a:srgbClr val="E6EDF3"/>
              </a:solidFill>
              <a:latin typeface="Cascadia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6.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학습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실행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재개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방식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3종: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보존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상태가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다릅니다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3632200" cy="2413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" y="1574800"/>
            <a:ext cx="33528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065A82"/>
                </a:solidFill>
                <a:latin typeface="Malgun Gothic"/>
              </a:rPr>
              <a:t>Native checkpoint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옵션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: --restore-checkpoint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보존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: policy + optimizer + replay buffer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쓰임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: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중단된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학습을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그대로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재개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79900" y="1460500"/>
            <a:ext cx="3632200" cy="2413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9600" y="1574800"/>
            <a:ext cx="33528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1C7293"/>
                </a:solidFill>
                <a:latin typeface="Malgun Gothic"/>
              </a:rPr>
              <a:t>Lightweight bundle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옵션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: --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init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-bundle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보존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: policy weight only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쓰임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: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좋은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정책을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시드로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새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실험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시작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51800" y="1460500"/>
            <a:ext cx="3632200" cy="2413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1500" y="1574800"/>
            <a:ext cx="33528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1F8A5F"/>
                </a:solidFill>
                <a:latin typeface="Malgun Gothic"/>
              </a:rPr>
              <a:t>Curriculum resume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옵션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: --resume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기준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: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curriculum_state.json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쓰임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: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중단된</a:t>
            </a:r>
            <a:r>
              <a:rPr sz="1800" b="0" i="0" dirty="0">
                <a:solidFill>
                  <a:srgbClr val="1B2733"/>
                </a:solidFill>
                <a:latin typeface="Malgun Gothic"/>
              </a:rPr>
              <a:t> stage/iteration </a:t>
            </a:r>
            <a:r>
              <a:rPr sz="1800" b="0" i="0" dirty="0" err="1">
                <a:solidFill>
                  <a:srgbClr val="1B2733"/>
                </a:solidFill>
                <a:latin typeface="Malgun Gothic"/>
              </a:rPr>
              <a:t>이어가기</a:t>
            </a:r>
            <a:endParaRPr sz="1800" b="0" i="0" dirty="0">
              <a:solidFill>
                <a:srgbClr val="1B2733"/>
              </a:solidFill>
              <a:latin typeface="Malgun Gothic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3C9775C-F455-D9A5-442B-0EDFD7906A1D}"/>
              </a:ext>
            </a:extLst>
          </p:cNvPr>
          <p:cNvGrpSpPr/>
          <p:nvPr/>
        </p:nvGrpSpPr>
        <p:grpSpPr>
          <a:xfrm>
            <a:off x="508000" y="4063999"/>
            <a:ext cx="11176000" cy="765005"/>
            <a:chOff x="508000" y="4064000"/>
            <a:chExt cx="11176000" cy="825500"/>
          </a:xfrm>
        </p:grpSpPr>
        <p:sp>
          <p:nvSpPr>
            <p:cNvPr id="15" name="Rounded Rectangle 14"/>
            <p:cNvSpPr/>
            <p:nvPr/>
          </p:nvSpPr>
          <p:spPr>
            <a:xfrm>
              <a:off x="508000" y="4064000"/>
              <a:ext cx="11176000" cy="825500"/>
            </a:xfrm>
            <a:prstGeom prst="roundRect">
              <a:avLst>
                <a:gd name="adj" fmla="val 10769"/>
              </a:avLst>
            </a:prstGeom>
            <a:solidFill>
              <a:srgbClr val="FFF1F2"/>
            </a:solidFill>
            <a:ln w="12700">
              <a:solidFill>
                <a:srgbClr val="F961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 sz="11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47700" y="4178300"/>
              <a:ext cx="38100" cy="596900"/>
            </a:xfrm>
            <a:prstGeom prst="rect">
              <a:avLst/>
            </a:prstGeom>
            <a:solidFill>
              <a:srgbClr val="F961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 sz="11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4700" y="4178300"/>
              <a:ext cx="10769600" cy="596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400" b="1" i="0" dirty="0" err="1">
                  <a:solidFill>
                    <a:srgbClr val="F96167"/>
                  </a:solidFill>
                  <a:latin typeface="Malgun Gothic"/>
                </a:rPr>
                <a:t>주의</a:t>
              </a:r>
              <a:r>
                <a:rPr sz="1400" b="1" i="0" dirty="0">
                  <a:solidFill>
                    <a:srgbClr val="F96167"/>
                  </a:solidFill>
                  <a:latin typeface="Malgun Gothic"/>
                </a:rPr>
                <a:t>: </a:t>
              </a:r>
              <a:r>
                <a:rPr sz="1400" b="1" i="0" dirty="0" err="1">
                  <a:solidFill>
                    <a:srgbClr val="F96167"/>
                  </a:solidFill>
                  <a:latin typeface="Malgun Gothic"/>
                </a:rPr>
                <a:t>관측</a:t>
              </a:r>
              <a:r>
                <a:rPr sz="1400" b="1" i="0" dirty="0">
                  <a:solidFill>
                    <a:srgbClr val="F96167"/>
                  </a:solidFill>
                  <a:latin typeface="Malgun Gothic"/>
                </a:rPr>
                <a:t> </a:t>
              </a:r>
              <a:r>
                <a:rPr sz="1400" b="1" i="0" dirty="0" err="1">
                  <a:solidFill>
                    <a:srgbClr val="F96167"/>
                  </a:solidFill>
                  <a:latin typeface="Malgun Gothic"/>
                </a:rPr>
                <a:t>변경</a:t>
              </a:r>
              <a:endParaRPr sz="1400" b="1" i="0" dirty="0">
                <a:solidFill>
                  <a:srgbClr val="F96167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200" b="0" i="0" dirty="0">
                  <a:solidFill>
                    <a:srgbClr val="1B2733"/>
                  </a:solidFill>
                  <a:latin typeface="Malgun Gothic"/>
                </a:rPr>
                <a:t>OBSERVATION_SIZE </a:t>
              </a:r>
              <a:r>
                <a:rPr sz="1200" b="0" i="0" dirty="0" err="1">
                  <a:solidFill>
                    <a:srgbClr val="1B2733"/>
                  </a:solidFill>
                  <a:latin typeface="Malgun Gothic"/>
                </a:rPr>
                <a:t>또는</a:t>
              </a:r>
              <a:r>
                <a:rPr sz="12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200" b="0" i="0" dirty="0" err="1">
                  <a:solidFill>
                    <a:srgbClr val="1B2733"/>
                  </a:solidFill>
                  <a:latin typeface="Malgun Gothic"/>
                </a:rPr>
                <a:t>module이</a:t>
              </a:r>
              <a:r>
                <a:rPr sz="12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200" b="0" i="0" dirty="0" err="1">
                  <a:solidFill>
                    <a:srgbClr val="1B2733"/>
                  </a:solidFill>
                  <a:latin typeface="Malgun Gothic"/>
                </a:rPr>
                <a:t>바뀌면</a:t>
              </a:r>
              <a:r>
                <a:rPr sz="12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200" b="0" i="0" dirty="0" err="1">
                  <a:solidFill>
                    <a:srgbClr val="1B2733"/>
                  </a:solidFill>
                  <a:latin typeface="Malgun Gothic"/>
                </a:rPr>
                <a:t>기존</a:t>
              </a:r>
              <a:r>
                <a:rPr sz="1200" b="0" i="0" dirty="0">
                  <a:solidFill>
                    <a:srgbClr val="1B2733"/>
                  </a:solidFill>
                  <a:latin typeface="Malgun Gothic"/>
                </a:rPr>
                <a:t> checkpoint/</a:t>
              </a:r>
              <a:r>
                <a:rPr sz="1200" b="0" i="0" dirty="0" err="1">
                  <a:solidFill>
                    <a:srgbClr val="1B2733"/>
                  </a:solidFill>
                  <a:latin typeface="Malgun Gothic"/>
                </a:rPr>
                <a:t>bundle과</a:t>
              </a:r>
              <a:r>
                <a:rPr sz="12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200" b="0" i="0" dirty="0" err="1">
                  <a:solidFill>
                    <a:srgbClr val="1B2733"/>
                  </a:solidFill>
                  <a:latin typeface="Malgun Gothic"/>
                </a:rPr>
                <a:t>호환되지</a:t>
              </a:r>
              <a:r>
                <a:rPr sz="12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200" b="0" i="0" dirty="0" err="1">
                  <a:solidFill>
                    <a:srgbClr val="1B2733"/>
                  </a:solidFill>
                  <a:latin typeface="Malgun Gothic"/>
                </a:rPr>
                <a:t>않습니다</a:t>
              </a:r>
              <a:r>
                <a:rPr sz="1200" b="0" i="0" dirty="0">
                  <a:solidFill>
                    <a:srgbClr val="1B2733"/>
                  </a:solidFill>
                  <a:latin typeface="Malgun Gothic"/>
                </a:rPr>
                <a:t>.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F91144C-0972-16B6-C37E-AE4C6A8DD54D}"/>
              </a:ext>
            </a:extLst>
          </p:cNvPr>
          <p:cNvGrpSpPr/>
          <p:nvPr/>
        </p:nvGrpSpPr>
        <p:grpSpPr>
          <a:xfrm>
            <a:off x="508000" y="4894347"/>
            <a:ext cx="11176000" cy="765005"/>
            <a:chOff x="508000" y="4064000"/>
            <a:chExt cx="11176000" cy="825500"/>
          </a:xfrm>
        </p:grpSpPr>
        <p:sp>
          <p:nvSpPr>
            <p:cNvPr id="3" name="Rounded Rectangle 14">
              <a:extLst>
                <a:ext uri="{FF2B5EF4-FFF2-40B4-BE49-F238E27FC236}">
                  <a16:creationId xmlns:a16="http://schemas.microsoft.com/office/drawing/2014/main" id="{BAC7D2DE-D038-5E31-AA4D-C2B6A0628220}"/>
                </a:ext>
              </a:extLst>
            </p:cNvPr>
            <p:cNvSpPr/>
            <p:nvPr/>
          </p:nvSpPr>
          <p:spPr>
            <a:xfrm>
              <a:off x="508000" y="4064000"/>
              <a:ext cx="11176000" cy="825500"/>
            </a:xfrm>
            <a:prstGeom prst="roundRect">
              <a:avLst>
                <a:gd name="adj" fmla="val 10769"/>
              </a:avLst>
            </a:prstGeom>
            <a:solidFill>
              <a:srgbClr val="FFF1F2"/>
            </a:solidFill>
            <a:ln w="12700">
              <a:solidFill>
                <a:srgbClr val="F961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 sz="1100"/>
            </a:p>
          </p:txBody>
        </p:sp>
        <p:sp>
          <p:nvSpPr>
            <p:cNvPr id="4" name="Rectangle 15">
              <a:extLst>
                <a:ext uri="{FF2B5EF4-FFF2-40B4-BE49-F238E27FC236}">
                  <a16:creationId xmlns:a16="http://schemas.microsoft.com/office/drawing/2014/main" id="{F1AB8439-EFB9-EA9A-1D2C-6AD61136D0BC}"/>
                </a:ext>
              </a:extLst>
            </p:cNvPr>
            <p:cNvSpPr/>
            <p:nvPr/>
          </p:nvSpPr>
          <p:spPr>
            <a:xfrm>
              <a:off x="647700" y="4178300"/>
              <a:ext cx="38100" cy="596900"/>
            </a:xfrm>
            <a:prstGeom prst="rect">
              <a:avLst/>
            </a:prstGeom>
            <a:solidFill>
              <a:srgbClr val="F961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 sz="11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C1D03FA-EB68-459F-7A0E-734F330BBCC9}"/>
                </a:ext>
              </a:extLst>
            </p:cNvPr>
            <p:cNvSpPr txBox="1"/>
            <p:nvPr/>
          </p:nvSpPr>
          <p:spPr>
            <a:xfrm>
              <a:off x="774700" y="4178300"/>
              <a:ext cx="10769600" cy="596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400" b="1" i="0" dirty="0" err="1">
                  <a:solidFill>
                    <a:srgbClr val="F96167"/>
                  </a:solidFill>
                  <a:latin typeface="Malgun Gothic"/>
                </a:rPr>
                <a:t>주의</a:t>
              </a:r>
              <a:r>
                <a:rPr sz="1400" b="1" i="0" dirty="0">
                  <a:solidFill>
                    <a:srgbClr val="F96167"/>
                  </a:solidFill>
                  <a:latin typeface="Malgun Gothic"/>
                </a:rPr>
                <a:t>: </a:t>
              </a:r>
              <a:r>
                <a:rPr lang="en-US" sz="1400" b="1" dirty="0">
                  <a:solidFill>
                    <a:srgbClr val="F96167"/>
                  </a:solidFill>
                  <a:latin typeface="Malgun Gothic"/>
                </a:rPr>
                <a:t>LSTM bundle</a:t>
              </a:r>
              <a:endParaRPr sz="1400" b="1" i="0" dirty="0">
                <a:solidFill>
                  <a:srgbClr val="F96167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lang="en-US" sz="1200" b="0" i="0" dirty="0">
                  <a:solidFill>
                    <a:srgbClr val="1B2733"/>
                  </a:solidFill>
                  <a:latin typeface="Malgun Gothic"/>
                </a:rPr>
                <a:t>LSTM bundle</a:t>
              </a:r>
              <a:r>
                <a:rPr lang="ko-KR" altLang="en-US" sz="1200" b="0" i="0" dirty="0">
                  <a:solidFill>
                    <a:srgbClr val="1B2733"/>
                  </a:solidFill>
                  <a:latin typeface="Malgun Gothic"/>
                </a:rPr>
                <a:t>은 </a:t>
              </a:r>
              <a:r>
                <a:rPr lang="en-US" altLang="ko-KR" sz="1200" b="0" i="0" dirty="0" err="1">
                  <a:solidFill>
                    <a:srgbClr val="1B2733"/>
                  </a:solidFill>
                  <a:latin typeface="Malgun Gothic"/>
                </a:rPr>
                <a:t>metatdata</a:t>
              </a:r>
              <a:r>
                <a:rPr lang="ko-KR" altLang="en-US" sz="1200" b="0" i="0" dirty="0">
                  <a:solidFill>
                    <a:srgbClr val="1B2733"/>
                  </a:solidFill>
                  <a:latin typeface="Malgun Gothic"/>
                </a:rPr>
                <a:t>의 </a:t>
              </a:r>
              <a:r>
                <a:rPr lang="en-US" altLang="ko-KR" sz="1200" b="0" i="0" dirty="0" err="1">
                  <a:solidFill>
                    <a:srgbClr val="1B2733"/>
                  </a:solidFill>
                  <a:latin typeface="Malgun Gothic"/>
                </a:rPr>
                <a:t>use_lstm</a:t>
              </a:r>
              <a:r>
                <a:rPr lang="en-US" altLang="ko-KR" sz="1200" dirty="0" err="1">
                  <a:solidFill>
                    <a:srgbClr val="1B2733"/>
                  </a:solidFill>
                  <a:latin typeface="Malgun Gothic"/>
                </a:rPr>
                <a:t>_sac</a:t>
              </a:r>
              <a:r>
                <a:rPr lang="en-US" altLang="ko-KR" sz="1200" dirty="0">
                  <a:solidFill>
                    <a:srgbClr val="1B2733"/>
                  </a:solidFill>
                  <a:latin typeface="Malgun Gothic"/>
                </a:rPr>
                <a:t>, </a:t>
              </a:r>
              <a:r>
                <a:rPr lang="en-US" altLang="ko-KR" sz="1200" dirty="0" err="1">
                  <a:solidFill>
                    <a:srgbClr val="1B2733"/>
                  </a:solidFill>
                  <a:latin typeface="Malgun Gothic"/>
                </a:rPr>
                <a:t>lstm_scope</a:t>
              </a:r>
              <a:r>
                <a:rPr lang="en-US" altLang="ko-KR" sz="1200" dirty="0">
                  <a:solidFill>
                    <a:srgbClr val="1B2733"/>
                  </a:solidFill>
                  <a:latin typeface="Malgun Gothic"/>
                </a:rPr>
                <a:t>, </a:t>
              </a:r>
              <a:r>
                <a:rPr lang="en-US" altLang="ko-KR" sz="1200" dirty="0" err="1">
                  <a:solidFill>
                    <a:srgbClr val="1B2733"/>
                  </a:solidFill>
                  <a:latin typeface="Malgun Gothic"/>
                </a:rPr>
                <a:t>max_seq_len</a:t>
              </a:r>
              <a:r>
                <a:rPr lang="en-US" altLang="ko-KR" sz="120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lang="ko-KR" altLang="en-US" sz="1200" dirty="0">
                  <a:solidFill>
                    <a:srgbClr val="1B2733"/>
                  </a:solidFill>
                  <a:latin typeface="Malgun Gothic"/>
                </a:rPr>
                <a:t>확인 필요</a:t>
              </a:r>
              <a:endParaRPr sz="12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68C644-E831-C8A5-3979-75BD1AB32EA4}"/>
              </a:ext>
            </a:extLst>
          </p:cNvPr>
          <p:cNvGrpSpPr/>
          <p:nvPr/>
        </p:nvGrpSpPr>
        <p:grpSpPr>
          <a:xfrm>
            <a:off x="508000" y="5724695"/>
            <a:ext cx="11176000" cy="949116"/>
            <a:chOff x="508000" y="4064000"/>
            <a:chExt cx="11176000" cy="825500"/>
          </a:xfrm>
        </p:grpSpPr>
        <p:sp>
          <p:nvSpPr>
            <p:cNvPr id="19" name="Rounded Rectangle 14">
              <a:extLst>
                <a:ext uri="{FF2B5EF4-FFF2-40B4-BE49-F238E27FC236}">
                  <a16:creationId xmlns:a16="http://schemas.microsoft.com/office/drawing/2014/main" id="{865877E8-7757-030B-A1A0-8552B5791F4F}"/>
                </a:ext>
              </a:extLst>
            </p:cNvPr>
            <p:cNvSpPr/>
            <p:nvPr/>
          </p:nvSpPr>
          <p:spPr>
            <a:xfrm>
              <a:off x="508000" y="4064000"/>
              <a:ext cx="11176000" cy="825500"/>
            </a:xfrm>
            <a:prstGeom prst="roundRect">
              <a:avLst>
                <a:gd name="adj" fmla="val 10769"/>
              </a:avLst>
            </a:prstGeom>
            <a:solidFill>
              <a:srgbClr val="FFF1F2"/>
            </a:solidFill>
            <a:ln w="12700">
              <a:solidFill>
                <a:srgbClr val="F961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 sz="1100"/>
            </a:p>
          </p:txBody>
        </p:sp>
        <p:sp>
          <p:nvSpPr>
            <p:cNvPr id="20" name="Rectangle 15">
              <a:extLst>
                <a:ext uri="{FF2B5EF4-FFF2-40B4-BE49-F238E27FC236}">
                  <a16:creationId xmlns:a16="http://schemas.microsoft.com/office/drawing/2014/main" id="{ED255EA9-12CB-9A2B-FCC3-A23F1E02F48F}"/>
                </a:ext>
              </a:extLst>
            </p:cNvPr>
            <p:cNvSpPr/>
            <p:nvPr/>
          </p:nvSpPr>
          <p:spPr>
            <a:xfrm>
              <a:off x="647700" y="4178300"/>
              <a:ext cx="38100" cy="596900"/>
            </a:xfrm>
            <a:prstGeom prst="rect">
              <a:avLst/>
            </a:prstGeom>
            <a:solidFill>
              <a:srgbClr val="F961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 sz="11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EEA4FFA-4863-E38C-32BB-F70B6185812E}"/>
                </a:ext>
              </a:extLst>
            </p:cNvPr>
            <p:cNvSpPr txBox="1"/>
            <p:nvPr/>
          </p:nvSpPr>
          <p:spPr>
            <a:xfrm>
              <a:off x="774700" y="4178300"/>
              <a:ext cx="10769600" cy="596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400" b="1" i="0" dirty="0" err="1">
                  <a:solidFill>
                    <a:srgbClr val="F96167"/>
                  </a:solidFill>
                  <a:latin typeface="Malgun Gothic"/>
                </a:rPr>
                <a:t>주의</a:t>
              </a:r>
              <a:r>
                <a:rPr sz="1400" b="1" i="0" dirty="0">
                  <a:solidFill>
                    <a:srgbClr val="F96167"/>
                  </a:solidFill>
                  <a:latin typeface="Malgun Gothic"/>
                </a:rPr>
                <a:t>: </a:t>
              </a:r>
              <a:r>
                <a:rPr lang="ko-KR" altLang="en-US" sz="1400" b="1" i="0" dirty="0">
                  <a:solidFill>
                    <a:srgbClr val="F96167"/>
                  </a:solidFill>
                  <a:latin typeface="Malgun Gothic"/>
                </a:rPr>
                <a:t>한 줄 원칙</a:t>
              </a:r>
              <a:endParaRPr sz="1400" b="1" i="0" dirty="0">
                <a:solidFill>
                  <a:srgbClr val="F96167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lang="en-US" altLang="ko-KR" sz="1200" b="0" i="0" dirty="0">
                  <a:solidFill>
                    <a:srgbClr val="1B2733"/>
                  </a:solidFill>
                  <a:latin typeface="Malgun Gothic"/>
                </a:rPr>
                <a:t>--restore-checkpoint`</a:t>
              </a:r>
              <a:r>
                <a:rPr lang="ko-KR" altLang="en-US" sz="1200" b="0" i="0" dirty="0">
                  <a:solidFill>
                    <a:srgbClr val="1B2733"/>
                  </a:solidFill>
                  <a:latin typeface="Malgun Gothic"/>
                </a:rPr>
                <a:t>와 </a:t>
              </a:r>
              <a:r>
                <a:rPr lang="en-US" altLang="ko-KR" sz="1200" b="0" i="0" dirty="0">
                  <a:solidFill>
                    <a:srgbClr val="1B2733"/>
                  </a:solidFill>
                  <a:latin typeface="Malgun Gothic"/>
                </a:rPr>
                <a:t>`--</a:t>
              </a:r>
              <a:r>
                <a:rPr lang="en-US" altLang="ko-KR" sz="1200" b="0" i="0" dirty="0" err="1">
                  <a:solidFill>
                    <a:srgbClr val="1B2733"/>
                  </a:solidFill>
                  <a:latin typeface="Malgun Gothic"/>
                </a:rPr>
                <a:t>init</a:t>
              </a:r>
              <a:r>
                <a:rPr lang="en-US" altLang="ko-KR" sz="1200" b="0" i="0" dirty="0">
                  <a:solidFill>
                    <a:srgbClr val="1B2733"/>
                  </a:solidFill>
                  <a:latin typeface="Malgun Gothic"/>
                </a:rPr>
                <a:t>-bundle`</a:t>
              </a:r>
              <a:r>
                <a:rPr lang="ko-KR" altLang="en-US" sz="1200" b="0" i="0" dirty="0">
                  <a:solidFill>
                    <a:srgbClr val="1B2733"/>
                  </a:solidFill>
                  <a:latin typeface="Malgun Gothic"/>
                </a:rPr>
                <a:t>은 동시에 쓰지 않는다</a:t>
              </a:r>
              <a:r>
                <a:rPr lang="en-US" altLang="ko-KR" sz="1200" b="0" i="0" dirty="0">
                  <a:solidFill>
                    <a:srgbClr val="1B2733"/>
                  </a:solidFill>
                  <a:latin typeface="Malgun Gothic"/>
                </a:rPr>
                <a:t>. weight-only </a:t>
              </a:r>
              <a:r>
                <a:rPr lang="ko-KR" altLang="en-US" sz="1200" b="0" i="0" dirty="0">
                  <a:solidFill>
                    <a:srgbClr val="1B2733"/>
                  </a:solidFill>
                  <a:latin typeface="Malgun Gothic"/>
                </a:rPr>
                <a:t>재시작을 </a:t>
              </a:r>
              <a:r>
                <a:rPr lang="en-US" altLang="ko-KR" sz="1200" b="0" i="0" dirty="0">
                  <a:solidFill>
                    <a:srgbClr val="1B2733"/>
                  </a:solidFill>
                  <a:latin typeface="Malgun Gothic"/>
                </a:rPr>
                <a:t>checkpoint </a:t>
              </a:r>
              <a:r>
                <a:rPr lang="ko-KR" altLang="en-US" sz="1200" b="0" i="0" dirty="0">
                  <a:solidFill>
                    <a:srgbClr val="1B2733"/>
                  </a:solidFill>
                  <a:latin typeface="Malgun Gothic"/>
                </a:rPr>
                <a:t>재개처럼 해석하면 </a:t>
              </a:r>
              <a:r>
                <a:rPr lang="en-US" altLang="ko-KR" sz="1200" b="0" i="0" dirty="0">
                  <a:solidFill>
                    <a:srgbClr val="1B2733"/>
                  </a:solidFill>
                  <a:latin typeface="Malgun Gothic"/>
                </a:rPr>
                <a:t>optimizer/replay </a:t>
              </a:r>
              <a:r>
                <a:rPr lang="ko-KR" altLang="en-US" sz="1200" b="0" i="0" dirty="0">
                  <a:solidFill>
                    <a:srgbClr val="1B2733"/>
                  </a:solidFill>
                  <a:latin typeface="Malgun Gothic"/>
                </a:rPr>
                <a:t>상태가 달라져 결과 비교가 흔들린다</a:t>
              </a:r>
              <a:r>
                <a:rPr lang="en-US" altLang="ko-KR" sz="1200" b="0" i="0" dirty="0">
                  <a:solidFill>
                    <a:srgbClr val="1B2733"/>
                  </a:solidFill>
                  <a:latin typeface="Malgun Gothic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7.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로컬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검증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로컬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검증은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제출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전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안전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점검입니다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1940560" cy="889000"/>
          </a:xfrm>
          <a:prstGeom prst="roundRect">
            <a:avLst>
              <a:gd name="adj" fmla="val 10000"/>
            </a:avLst>
          </a:prstGeom>
          <a:solidFill>
            <a:srgbClr val="2BB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6100" y="1460500"/>
            <a:ext cx="1864360" cy="889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bundle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2060" y="1460500"/>
            <a:ext cx="2413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860" y="1460500"/>
            <a:ext cx="1940560" cy="889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4960" y="1460500"/>
            <a:ext cx="1864360" cy="889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backend 조합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0920" y="1460500"/>
            <a:ext cx="2413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5720" y="1460500"/>
            <a:ext cx="1940560" cy="8890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3820" y="1460500"/>
            <a:ext cx="1864360" cy="889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교전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9780" y="1460500"/>
            <a:ext cx="2413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4580" y="1460500"/>
            <a:ext cx="1940560" cy="889000"/>
          </a:xfrm>
          <a:prstGeom prst="roundRect">
            <a:avLst>
              <a:gd name="adj" fmla="val 10000"/>
            </a:avLst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2680" y="1460500"/>
            <a:ext cx="1864360" cy="889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종료 사유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8640" y="1460500"/>
            <a:ext cx="2413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43440" y="1460500"/>
            <a:ext cx="1940560" cy="889000"/>
          </a:xfrm>
          <a:prstGeom prst="roundRect">
            <a:avLst>
              <a:gd name="adj" fmla="val 10000"/>
            </a:avLst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1540" y="1460500"/>
            <a:ext cx="1864360" cy="889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다음 실험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000" y="2603500"/>
            <a:ext cx="11176000" cy="1221740"/>
          </a:xfrm>
          <a:prstGeom prst="roundRect">
            <a:avLst>
              <a:gd name="adj" fmla="val 6237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0400" y="2730500"/>
            <a:ext cx="10871200" cy="9677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 i="0" dirty="0">
                <a:solidFill>
                  <a:srgbClr val="E6EDF3"/>
                </a:solidFill>
                <a:latin typeface="Cascadia Mono"/>
              </a:rPr>
              <a:t>python run_local_dogfight.py --</a:t>
            </a:r>
            <a:r>
              <a:rPr sz="1400" b="0" i="0" dirty="0" err="1">
                <a:solidFill>
                  <a:srgbClr val="E6EDF3"/>
                </a:solidFill>
                <a:latin typeface="Cascadia Mono"/>
              </a:rPr>
              <a:t>ownship</a:t>
            </a:r>
            <a:r>
              <a:rPr sz="1400" b="0" i="0" dirty="0">
                <a:solidFill>
                  <a:srgbClr val="E6EDF3"/>
                </a:solidFill>
                <a:latin typeface="Cascadia Mono"/>
              </a:rPr>
              <a:t>-backend </a:t>
            </a:r>
            <a:r>
              <a:rPr lang="en-US" sz="1400" b="0" i="0" dirty="0" err="1">
                <a:solidFill>
                  <a:srgbClr val="E6EDF3"/>
                </a:solidFill>
                <a:latin typeface="Cascadia Mono"/>
              </a:rPr>
              <a:t>rl</a:t>
            </a:r>
            <a:r>
              <a:rPr lang="en-US" sz="1400" b="0" i="0" dirty="0">
                <a:solidFill>
                  <a:srgbClr val="E6EDF3"/>
                </a:solidFill>
                <a:latin typeface="Cascadia Mono"/>
              </a:rPr>
              <a:t> </a:t>
            </a:r>
            <a:r>
              <a:rPr sz="1400" b="0" i="0" dirty="0">
                <a:solidFill>
                  <a:srgbClr val="E6EDF3"/>
                </a:solidFill>
                <a:latin typeface="Cascadia Mono"/>
              </a:rPr>
              <a:t>--</a:t>
            </a:r>
            <a:r>
              <a:rPr sz="1400" b="0" i="0" dirty="0" err="1">
                <a:solidFill>
                  <a:srgbClr val="E6EDF3"/>
                </a:solidFill>
                <a:latin typeface="Cascadia Mono"/>
              </a:rPr>
              <a:t>ownship</a:t>
            </a:r>
            <a:r>
              <a:rPr sz="1400" b="0" i="0" dirty="0">
                <a:solidFill>
                  <a:srgbClr val="E6EDF3"/>
                </a:solidFill>
                <a:latin typeface="Cascadia Mono"/>
              </a:rPr>
              <a:t>-bundle-</a:t>
            </a:r>
            <a:r>
              <a:rPr sz="1400" b="0" i="0" dirty="0" err="1">
                <a:solidFill>
                  <a:srgbClr val="E6EDF3"/>
                </a:solidFill>
                <a:latin typeface="Cascadia Mono"/>
              </a:rPr>
              <a:t>dir</a:t>
            </a:r>
            <a:r>
              <a:rPr sz="1400" b="0" i="0" dirty="0">
                <a:solidFill>
                  <a:srgbClr val="E6EDF3"/>
                </a:solidFill>
                <a:latin typeface="Cascadia Mono"/>
              </a:rPr>
              <a:t> artifacts\models\team01\v1 --target-backend </a:t>
            </a:r>
            <a:r>
              <a:rPr sz="1400" b="0" i="0" dirty="0" err="1">
                <a:solidFill>
                  <a:srgbClr val="E6EDF3"/>
                </a:solidFill>
                <a:latin typeface="Cascadia Mono"/>
              </a:rPr>
              <a:t>bt</a:t>
            </a:r>
            <a:r>
              <a:rPr sz="1400" b="0" i="0" dirty="0">
                <a:solidFill>
                  <a:srgbClr val="E6EDF3"/>
                </a:solidFill>
                <a:latin typeface="Cascadia Mono"/>
              </a:rPr>
              <a:t> --save-log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Malgun Gothic"/>
              </a:rPr>
              <a:t>7. 로컬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먼저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볼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것은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승률보다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실패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원인입니다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E621DF2-483E-4BEE-4211-9FCFF7B051AE}"/>
              </a:ext>
            </a:extLst>
          </p:cNvPr>
          <p:cNvGrpSpPr/>
          <p:nvPr/>
        </p:nvGrpSpPr>
        <p:grpSpPr>
          <a:xfrm>
            <a:off x="508000" y="1460500"/>
            <a:ext cx="5511800" cy="1526658"/>
            <a:chOff x="508000" y="1460500"/>
            <a:chExt cx="5511800" cy="1397000"/>
          </a:xfrm>
        </p:grpSpPr>
        <p:sp>
          <p:nvSpPr>
            <p:cNvPr id="9" name="Rounded Rectangle 8"/>
            <p:cNvSpPr/>
            <p:nvPr/>
          </p:nvSpPr>
          <p:spPr>
            <a:xfrm>
              <a:off x="508000" y="1460500"/>
              <a:ext cx="5511800" cy="1397000"/>
            </a:xfrm>
            <a:prstGeom prst="roundRect">
              <a:avLst>
                <a:gd name="adj" fmla="val 6363"/>
              </a:avLst>
            </a:prstGeom>
            <a:solidFill>
              <a:srgbClr val="FFF1F2"/>
            </a:solidFill>
            <a:ln w="12700">
              <a:solidFill>
                <a:srgbClr val="F961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7700" y="1574800"/>
              <a:ext cx="38100" cy="1168400"/>
            </a:xfrm>
            <a:prstGeom prst="rect">
              <a:avLst/>
            </a:prstGeom>
            <a:solidFill>
              <a:srgbClr val="F961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74700" y="1574800"/>
              <a:ext cx="5105400" cy="1168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>
                  <a:solidFill>
                    <a:srgbClr val="F96167"/>
                  </a:solidFill>
                  <a:latin typeface="Malgun Gothic"/>
                </a:rPr>
                <a:t>Crash / Altitude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비행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안정성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실패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액션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과격도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,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초기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조건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확인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5B65FB6-AF70-902E-C1F1-89579FDB8AAE}"/>
              </a:ext>
            </a:extLst>
          </p:cNvPr>
          <p:cNvGrpSpPr/>
          <p:nvPr/>
        </p:nvGrpSpPr>
        <p:grpSpPr>
          <a:xfrm>
            <a:off x="6172200" y="1460500"/>
            <a:ext cx="5511800" cy="1526658"/>
            <a:chOff x="6172200" y="1460500"/>
            <a:chExt cx="5511800" cy="1397000"/>
          </a:xfrm>
        </p:grpSpPr>
        <p:sp>
          <p:nvSpPr>
            <p:cNvPr id="12" name="Rounded Rectangle 11"/>
            <p:cNvSpPr/>
            <p:nvPr/>
          </p:nvSpPr>
          <p:spPr>
            <a:xfrm>
              <a:off x="6172200" y="1460500"/>
              <a:ext cx="5511800" cy="1397000"/>
            </a:xfrm>
            <a:prstGeom prst="roundRect">
              <a:avLst>
                <a:gd name="adj" fmla="val 6363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11900" y="1574800"/>
              <a:ext cx="5232400" cy="1168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>
                  <a:solidFill>
                    <a:srgbClr val="D08A2C"/>
                  </a:solidFill>
                  <a:latin typeface="Malgun Gothic"/>
                </a:rPr>
                <a:t>FDM / NaN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2000" b="0" i="0">
                  <a:solidFill>
                    <a:srgbClr val="1B2733"/>
                  </a:solidFill>
                  <a:latin typeface="Malgun Gothic"/>
                </a:rPr>
                <a:t>시뮬레이터 상태 오류</a:t>
              </a: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2000" b="0" i="0">
                  <a:solidFill>
                    <a:srgbClr val="1B2733"/>
                  </a:solidFill>
                  <a:latin typeface="Malgun Gothic"/>
                </a:rPr>
                <a:t>로그와 상태값 확인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79174F4-58D3-FCA2-694B-ECBA191BAE28}"/>
              </a:ext>
            </a:extLst>
          </p:cNvPr>
          <p:cNvGrpSpPr/>
          <p:nvPr/>
        </p:nvGrpSpPr>
        <p:grpSpPr>
          <a:xfrm>
            <a:off x="508000" y="3123312"/>
            <a:ext cx="5511800" cy="1526658"/>
            <a:chOff x="508000" y="3009900"/>
            <a:chExt cx="5511800" cy="1397000"/>
          </a:xfrm>
        </p:grpSpPr>
        <p:sp>
          <p:nvSpPr>
            <p:cNvPr id="14" name="Rounded Rectangle 13"/>
            <p:cNvSpPr/>
            <p:nvPr/>
          </p:nvSpPr>
          <p:spPr>
            <a:xfrm>
              <a:off x="508000" y="3009900"/>
              <a:ext cx="5511800" cy="1397000"/>
            </a:xfrm>
            <a:prstGeom prst="roundRect">
              <a:avLst>
                <a:gd name="adj" fmla="val 6363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7700" y="3124200"/>
              <a:ext cx="5232400" cy="1168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>
                  <a:solidFill>
                    <a:srgbClr val="1C7293"/>
                  </a:solidFill>
                  <a:latin typeface="Malgun Gothic"/>
                </a:rPr>
                <a:t>Observation mismatch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mode/module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불일치</a:t>
              </a:r>
              <a:endParaRPr sz="2000" b="0" i="0" dirty="0">
                <a:solidFill>
                  <a:srgbClr val="1B273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bundle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metadata와</a:t>
              </a: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제출</a:t>
              </a: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설정</a:t>
              </a: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비교</a:t>
              </a:r>
              <a:endParaRPr sz="20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3E3EC6-B40C-31CB-DE6B-09F3F129D8A3}"/>
              </a:ext>
            </a:extLst>
          </p:cNvPr>
          <p:cNvGrpSpPr/>
          <p:nvPr/>
        </p:nvGrpSpPr>
        <p:grpSpPr>
          <a:xfrm>
            <a:off x="6172200" y="3123312"/>
            <a:ext cx="5511800" cy="1526658"/>
            <a:chOff x="6172200" y="3009900"/>
            <a:chExt cx="5511800" cy="1397000"/>
          </a:xfrm>
        </p:grpSpPr>
        <p:sp>
          <p:nvSpPr>
            <p:cNvPr id="16" name="Rounded Rectangle 15"/>
            <p:cNvSpPr/>
            <p:nvPr/>
          </p:nvSpPr>
          <p:spPr>
            <a:xfrm>
              <a:off x="6172200" y="3009900"/>
              <a:ext cx="5511800" cy="1397000"/>
            </a:xfrm>
            <a:prstGeom prst="roundRect">
              <a:avLst>
                <a:gd name="adj" fmla="val 6363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11900" y="3124200"/>
              <a:ext cx="5232400" cy="1168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>
                  <a:solidFill>
                    <a:srgbClr val="1F8A5F"/>
                  </a:solidFill>
                  <a:latin typeface="Malgun Gothic"/>
                </a:rPr>
                <a:t>Distance / WEZ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접근과</a:t>
              </a: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기하</a:t>
              </a: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흐름</a:t>
              </a:r>
              <a:endParaRPr sz="2000" b="0" i="0" dirty="0">
                <a:solidFill>
                  <a:srgbClr val="1B273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정답</a:t>
              </a: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보상이</a:t>
              </a: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아닌</a:t>
              </a: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관찰</a:t>
              </a:r>
              <a:r>
                <a:rPr sz="20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2000" b="0" i="0" dirty="0" err="1">
                  <a:solidFill>
                    <a:srgbClr val="1B2733"/>
                  </a:solidFill>
                  <a:latin typeface="Malgun Gothic"/>
                </a:rPr>
                <a:t>지표</a:t>
              </a:r>
              <a:endParaRPr sz="20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7.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로컬</a:t>
            </a:r>
            <a:r>
              <a:rPr sz="1800" b="1" i="0" dirty="0">
                <a:solidFill>
                  <a:srgbClr val="1C7293"/>
                </a:solidFill>
                <a:latin typeface="Malgun Gothic"/>
              </a:rPr>
              <a:t>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검증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custom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관측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policy는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같은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module로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검증합니다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6302058" cy="2508988"/>
          </a:xfrm>
          <a:prstGeom prst="roundRect">
            <a:avLst>
              <a:gd name="adj" fmla="val 3645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00" y="1587499"/>
            <a:ext cx="5997258" cy="22041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python run_local_dogfight.py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--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ownship</a:t>
            </a:r>
            <a:r>
              <a:rPr sz="1700" b="0" i="0" dirty="0">
                <a:solidFill>
                  <a:srgbClr val="E6EDF3"/>
                </a:solidFill>
                <a:latin typeface="Cascadia Mono"/>
              </a:rPr>
              <a:t>-backend 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rl</a:t>
            </a:r>
            <a:endParaRPr sz="17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--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ownship</a:t>
            </a:r>
            <a:r>
              <a:rPr sz="1700" b="0" i="0" dirty="0">
                <a:solidFill>
                  <a:srgbClr val="E6EDF3"/>
                </a:solidFill>
                <a:latin typeface="Cascadia Mono"/>
              </a:rPr>
              <a:t>-bundle-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dir</a:t>
            </a:r>
            <a:r>
              <a:rPr sz="1700" b="0" i="0" dirty="0">
                <a:solidFill>
                  <a:srgbClr val="E6EDF3"/>
                </a:solidFill>
                <a:latin typeface="Cascadia Mono"/>
              </a:rPr>
              <a:t> artifacts\models\team01\observation_v1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--target-backend 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bt</a:t>
            </a:r>
            <a:endParaRPr sz="1700" b="0" i="0" dirty="0">
              <a:solidFill>
                <a:srgbClr val="E6EDF3"/>
              </a:solidFill>
              <a:latin typeface="Cascadia Mon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--observation-mode custom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 dirty="0">
                <a:solidFill>
                  <a:srgbClr val="E6EDF3"/>
                </a:solidFill>
                <a:latin typeface="Cascadia Mono"/>
              </a:rPr>
              <a:t>  --observation-module </a:t>
            </a:r>
            <a:r>
              <a:rPr sz="1700" b="0" i="0" dirty="0" err="1">
                <a:solidFill>
                  <a:srgbClr val="E6EDF3"/>
                </a:solidFill>
                <a:latin typeface="Cascadia Mono"/>
              </a:rPr>
              <a:t>student.my_observation</a:t>
            </a:r>
            <a:endParaRPr sz="1700" b="0" i="0" dirty="0">
              <a:solidFill>
                <a:srgbClr val="E6EDF3"/>
              </a:solidFill>
              <a:latin typeface="Cascadia Mono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9745BD2-918A-7A5F-7AD1-6556DCC7770A}"/>
              </a:ext>
            </a:extLst>
          </p:cNvPr>
          <p:cNvGrpSpPr/>
          <p:nvPr/>
        </p:nvGrpSpPr>
        <p:grpSpPr>
          <a:xfrm>
            <a:off x="7025957" y="1460499"/>
            <a:ext cx="4658042" cy="1122621"/>
            <a:chOff x="7025957" y="1460500"/>
            <a:chExt cx="4658042" cy="952500"/>
          </a:xfrm>
        </p:grpSpPr>
        <p:sp>
          <p:nvSpPr>
            <p:cNvPr id="11" name="Rounded Rectangle 10"/>
            <p:cNvSpPr/>
            <p:nvPr/>
          </p:nvSpPr>
          <p:spPr>
            <a:xfrm>
              <a:off x="7025957" y="1460500"/>
              <a:ext cx="4658042" cy="95250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65657" y="1574800"/>
              <a:ext cx="4378642" cy="723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 err="1">
                  <a:solidFill>
                    <a:srgbClr val="1C7293"/>
                  </a:solidFill>
                  <a:latin typeface="Malgun Gothic"/>
                </a:rPr>
                <a:t>같은</a:t>
              </a:r>
              <a:r>
                <a:rPr sz="2200" b="1" i="0" dirty="0">
                  <a:solidFill>
                    <a:srgbClr val="1C7293"/>
                  </a:solidFill>
                  <a:latin typeface="Malgun Gothic"/>
                </a:rPr>
                <a:t> module path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학습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때 쓴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module을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그대로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사용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4703489-F27E-D019-99D5-28A13648DEE4}"/>
              </a:ext>
            </a:extLst>
          </p:cNvPr>
          <p:cNvGrpSpPr/>
          <p:nvPr/>
        </p:nvGrpSpPr>
        <p:grpSpPr>
          <a:xfrm>
            <a:off x="7025957" y="2781296"/>
            <a:ext cx="4658042" cy="1122621"/>
            <a:chOff x="7025957" y="3619500"/>
            <a:chExt cx="4658042" cy="952500"/>
          </a:xfrm>
        </p:grpSpPr>
        <p:sp>
          <p:nvSpPr>
            <p:cNvPr id="15" name="Rounded Rectangle 14"/>
            <p:cNvSpPr/>
            <p:nvPr/>
          </p:nvSpPr>
          <p:spPr>
            <a:xfrm>
              <a:off x="7025957" y="3619500"/>
              <a:ext cx="4658042" cy="95250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65657" y="3733800"/>
              <a:ext cx="4378642" cy="723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 dirty="0" err="1">
                  <a:solidFill>
                    <a:srgbClr val="1F8A5F"/>
                  </a:solidFill>
                  <a:latin typeface="Malgun Gothic"/>
                </a:rPr>
                <a:t>판단</a:t>
              </a:r>
              <a:r>
                <a:rPr sz="2200" b="1" i="0" dirty="0">
                  <a:solidFill>
                    <a:srgbClr val="1F8A5F"/>
                  </a:solidFill>
                  <a:latin typeface="Malgun Gothic"/>
                </a:rPr>
                <a:t> </a:t>
              </a:r>
              <a:r>
                <a:rPr sz="2200" b="1" i="0" dirty="0" err="1">
                  <a:solidFill>
                    <a:srgbClr val="1F8A5F"/>
                  </a:solidFill>
                  <a:latin typeface="Malgun Gothic"/>
                </a:rPr>
                <a:t>기준</a:t>
              </a:r>
              <a:endParaRPr sz="2200" b="1" i="0" dirty="0">
                <a:solidFill>
                  <a:srgbClr val="1F8A5F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로그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근거로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다음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실험을</a:t>
              </a:r>
              <a:r>
                <a:rPr sz="1900" b="0" i="0" dirty="0">
                  <a:solidFill>
                    <a:srgbClr val="1B2733"/>
                  </a:solidFill>
                  <a:latin typeface="Malgun Gothic"/>
                </a:rPr>
                <a:t> </a:t>
              </a:r>
              <a:r>
                <a:rPr sz="1900" b="0" i="0" dirty="0" err="1">
                  <a:solidFill>
                    <a:srgbClr val="1B2733"/>
                  </a:solidFill>
                  <a:latin typeface="Malgun Gothic"/>
                </a:rPr>
                <a:t>고른다</a:t>
              </a:r>
              <a:endParaRPr sz="19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1C7293"/>
                </a:solidFill>
                <a:latin typeface="Malgun Gothic"/>
              </a:rPr>
              <a:t>8. Unreal </a:t>
            </a:r>
            <a:r>
              <a:rPr sz="1800" b="1" i="0" dirty="0" err="1">
                <a:solidFill>
                  <a:srgbClr val="1C7293"/>
                </a:solidFill>
                <a:latin typeface="Malgun Gothic"/>
              </a:rPr>
              <a:t>제출</a:t>
            </a:r>
            <a:endParaRPr sz="1800" b="1" i="0" dirty="0">
              <a:solidFill>
                <a:srgbClr val="1C7293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Unreal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접속도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같은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입력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계약을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씁니다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1940560" cy="825500"/>
          </a:xfrm>
          <a:prstGeom prst="roundRect">
            <a:avLst>
              <a:gd name="adj" fmla="val 10769"/>
            </a:avLst>
          </a:prstGeom>
          <a:solidFill>
            <a:srgbClr val="2BB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6100" y="1460500"/>
            <a:ext cx="1864360" cy="825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PlaneInfo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2060" y="1460500"/>
            <a:ext cx="241300" cy="825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860" y="1460500"/>
            <a:ext cx="1940560" cy="825500"/>
          </a:xfrm>
          <a:prstGeom prst="roundRect">
            <a:avLst>
              <a:gd name="adj" fmla="val 10769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4960" y="1460500"/>
            <a:ext cx="1864360" cy="825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0920" y="1460500"/>
            <a:ext cx="241300" cy="825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5720" y="1460500"/>
            <a:ext cx="1940560" cy="825500"/>
          </a:xfrm>
          <a:prstGeom prst="roundRect">
            <a:avLst>
              <a:gd name="adj" fmla="val 10769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3820" y="1460500"/>
            <a:ext cx="1864360" cy="825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Policy/BT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9780" y="1460500"/>
            <a:ext cx="241300" cy="825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4580" y="1460500"/>
            <a:ext cx="1940560" cy="825500"/>
          </a:xfrm>
          <a:prstGeom prst="roundRect">
            <a:avLst>
              <a:gd name="adj" fmla="val 10769"/>
            </a:avLst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2680" y="1460500"/>
            <a:ext cx="1864360" cy="825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CMD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8640" y="1460500"/>
            <a:ext cx="241300" cy="825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43440" y="1460500"/>
            <a:ext cx="1940560" cy="825500"/>
          </a:xfrm>
          <a:prstGeom prst="roundRect">
            <a:avLst>
              <a:gd name="adj" fmla="val 10769"/>
            </a:avLst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1540" y="1460500"/>
            <a:ext cx="1864360" cy="825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algun Gothic"/>
              </a:rPr>
              <a:t>Unreal step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1250FE7-E9AF-C49A-EDDB-3CE1B8EE1F86}"/>
              </a:ext>
            </a:extLst>
          </p:cNvPr>
          <p:cNvGrpSpPr/>
          <p:nvPr/>
        </p:nvGrpSpPr>
        <p:grpSpPr>
          <a:xfrm>
            <a:off x="508000" y="2539999"/>
            <a:ext cx="3632200" cy="1543485"/>
            <a:chOff x="508000" y="2540000"/>
            <a:chExt cx="3632200" cy="1270000"/>
          </a:xfrm>
        </p:grpSpPr>
        <p:sp>
          <p:nvSpPr>
            <p:cNvPr id="23" name="Rounded Rectangle 22"/>
            <p:cNvSpPr/>
            <p:nvPr/>
          </p:nvSpPr>
          <p:spPr>
            <a:xfrm>
              <a:off x="508000" y="2540000"/>
              <a:ext cx="3632200" cy="1270000"/>
            </a:xfrm>
            <a:prstGeom prst="roundRect">
              <a:avLst>
                <a:gd name="adj" fmla="val 7000"/>
              </a:avLst>
            </a:prstGeom>
            <a:solidFill>
              <a:srgbClr val="FFF1F2"/>
            </a:solidFill>
            <a:ln w="12700">
              <a:solidFill>
                <a:srgbClr val="F961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47700" y="2654300"/>
              <a:ext cx="38100" cy="1041400"/>
            </a:xfrm>
            <a:prstGeom prst="rect">
              <a:avLst/>
            </a:prstGeom>
            <a:solidFill>
              <a:srgbClr val="F961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74700" y="2654300"/>
              <a:ext cx="3225800" cy="1041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>
                  <a:solidFill>
                    <a:srgbClr val="F96167"/>
                  </a:solidFill>
                  <a:latin typeface="Malgun Gothic"/>
                </a:rPr>
                <a:t>입력 계약 일치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>
                  <a:solidFill>
                    <a:srgbClr val="1B2733"/>
                  </a:solidFill>
                  <a:latin typeface="Malgun Gothic"/>
                </a:rPr>
                <a:t>로컬 / 학습 / Unreal 동일 module path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B5CD722-D0B4-BC7C-B7AE-7A141C634944}"/>
              </a:ext>
            </a:extLst>
          </p:cNvPr>
          <p:cNvGrpSpPr/>
          <p:nvPr/>
        </p:nvGrpSpPr>
        <p:grpSpPr>
          <a:xfrm>
            <a:off x="4279900" y="2539999"/>
            <a:ext cx="3632200" cy="1543485"/>
            <a:chOff x="4279900" y="2540000"/>
            <a:chExt cx="3632200" cy="1270000"/>
          </a:xfrm>
        </p:grpSpPr>
        <p:sp>
          <p:nvSpPr>
            <p:cNvPr id="26" name="Rounded Rectangle 25"/>
            <p:cNvSpPr/>
            <p:nvPr/>
          </p:nvSpPr>
          <p:spPr>
            <a:xfrm>
              <a:off x="4279900" y="2540000"/>
              <a:ext cx="3632200" cy="1270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419600" y="2654300"/>
              <a:ext cx="3352800" cy="1041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>
                  <a:solidFill>
                    <a:srgbClr val="1C7293"/>
                  </a:solidFill>
                  <a:latin typeface="Malgun Gothic"/>
                </a:rPr>
                <a:t>서버 정보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>
                  <a:solidFill>
                    <a:srgbClr val="1B2733"/>
                  </a:solidFill>
                  <a:latin typeface="Malgun Gothic"/>
                </a:rPr>
                <a:t>IP / Port / 팀명</a:t>
              </a: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900" b="0" i="0">
                  <a:solidFill>
                    <a:srgbClr val="1B2733"/>
                  </a:solidFill>
                  <a:latin typeface="Malgun Gothic"/>
                </a:rPr>
                <a:t>운영 공지 기준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7BBE89E-0347-0CF5-1C9E-E82A150D0D6E}"/>
              </a:ext>
            </a:extLst>
          </p:cNvPr>
          <p:cNvGrpSpPr/>
          <p:nvPr/>
        </p:nvGrpSpPr>
        <p:grpSpPr>
          <a:xfrm>
            <a:off x="8051800" y="2539999"/>
            <a:ext cx="3632200" cy="1543485"/>
            <a:chOff x="8051800" y="2540000"/>
            <a:chExt cx="3632200" cy="1270000"/>
          </a:xfrm>
        </p:grpSpPr>
        <p:sp>
          <p:nvSpPr>
            <p:cNvPr id="28" name="Rounded Rectangle 27"/>
            <p:cNvSpPr/>
            <p:nvPr/>
          </p:nvSpPr>
          <p:spPr>
            <a:xfrm>
              <a:off x="8051800" y="2540000"/>
              <a:ext cx="3632200" cy="1270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191500" y="2654300"/>
              <a:ext cx="3352800" cy="1041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200" b="1" i="0">
                  <a:solidFill>
                    <a:srgbClr val="1F8A5F"/>
                  </a:solidFill>
                  <a:latin typeface="Malgun Gothic"/>
                </a:rPr>
                <a:t>MODE 선택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900" b="0" i="0">
                  <a:solidFill>
                    <a:srgbClr val="1B2733"/>
                  </a:solidFill>
                  <a:latin typeface="Malgun Gothic"/>
                </a:rPr>
                <a:t>rl / bt / hybrid</a:t>
              </a: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900" b="0" i="0">
                  <a:solidFill>
                    <a:srgbClr val="1B2733"/>
                  </a:solidFill>
                  <a:latin typeface="Malgun Gothic"/>
                </a:rPr>
                <a:t>rl/hybrid는 BUNDLE_DIR 필요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Malgun Gothic"/>
              </a:rPr>
              <a:t>8. Unreal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student/my_submission.py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수정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지점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8000" y="1460500"/>
            <a:ext cx="3193143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6900" y="1495342"/>
            <a:ext cx="3015343" cy="273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1" i="0" dirty="0" err="1">
                <a:solidFill>
                  <a:srgbClr val="FFFFFF"/>
                </a:solidFill>
                <a:latin typeface="Malgun Gothic"/>
              </a:rPr>
              <a:t>설정</a:t>
            </a:r>
            <a:endParaRPr sz="17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01143" y="1460500"/>
            <a:ext cx="4333551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0043" y="1495342"/>
            <a:ext cx="4155751" cy="273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의미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4694" y="1460500"/>
            <a:ext cx="3649306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23594" y="1495342"/>
            <a:ext cx="3471506" cy="273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1803400"/>
            <a:ext cx="3193143" cy="444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596900" y="1913151"/>
            <a:ext cx="3015343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TEAM_NAME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1143" y="1803400"/>
            <a:ext cx="4333551" cy="444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3790043" y="1913151"/>
            <a:ext cx="4155751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팀 표시 이름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694" y="1803400"/>
            <a:ext cx="3649306" cy="444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123594" y="1913151"/>
            <a:ext cx="3471506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등록명과 일치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2247900"/>
            <a:ext cx="3193143" cy="4445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596900" y="2357651"/>
            <a:ext cx="3015343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SERVER_IP / 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1143" y="2247900"/>
            <a:ext cx="4333551" cy="4445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3790043" y="2357651"/>
            <a:ext cx="4155751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Unreal 서버 주소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4694" y="2247900"/>
            <a:ext cx="3649306" cy="4445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8123594" y="2357651"/>
            <a:ext cx="3471506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운영 공지 기준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2692400"/>
            <a:ext cx="3193143" cy="444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596900" y="2802151"/>
            <a:ext cx="3015343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MODE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1143" y="2692400"/>
            <a:ext cx="4333551" cy="444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30" name="TextBox 29"/>
          <p:cNvSpPr txBox="1"/>
          <p:nvPr/>
        </p:nvSpPr>
        <p:spPr>
          <a:xfrm>
            <a:off x="3790043" y="2802151"/>
            <a:ext cx="4155751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rl / bt / hybrid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4694" y="2692400"/>
            <a:ext cx="3649306" cy="444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32" name="TextBox 31"/>
          <p:cNvSpPr txBox="1"/>
          <p:nvPr/>
        </p:nvSpPr>
        <p:spPr>
          <a:xfrm>
            <a:off x="8123594" y="2802151"/>
            <a:ext cx="3471506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실험 의도와 일치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136900"/>
            <a:ext cx="3193143" cy="4445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596900" y="3246651"/>
            <a:ext cx="3015343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BUNDLE_DIR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1143" y="3136900"/>
            <a:ext cx="4333551" cy="4445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3790043" y="3246651"/>
            <a:ext cx="4155751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제출 policy 경로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34694" y="3136900"/>
            <a:ext cx="3649306" cy="4445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38" name="TextBox 37"/>
          <p:cNvSpPr txBox="1"/>
          <p:nvPr/>
        </p:nvSpPr>
        <p:spPr>
          <a:xfrm>
            <a:off x="8123594" y="3246651"/>
            <a:ext cx="3471506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metadata와 weights 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3581400"/>
            <a:ext cx="3193143" cy="444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40" name="TextBox 39"/>
          <p:cNvSpPr txBox="1"/>
          <p:nvPr/>
        </p:nvSpPr>
        <p:spPr>
          <a:xfrm>
            <a:off x="596900" y="3691151"/>
            <a:ext cx="3015343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1B2733"/>
                </a:solidFill>
                <a:latin typeface="Malgun Gothic"/>
              </a:rPr>
              <a:t>OBSERVATION_MODE / MODULE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01143" y="3581400"/>
            <a:ext cx="4333551" cy="444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42" name="TextBox 41"/>
          <p:cNvSpPr txBox="1"/>
          <p:nvPr/>
        </p:nvSpPr>
        <p:spPr>
          <a:xfrm>
            <a:off x="3790043" y="3691151"/>
            <a:ext cx="4155751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policy 입력 계약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34694" y="3581400"/>
            <a:ext cx="3649306" cy="444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8123594" y="3691151"/>
            <a:ext cx="3471506" cy="2249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학습 설정과 일치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Malgun Gothic"/>
              </a:rPr>
              <a:t>9. 최종 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최종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체크리스트와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운영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원칙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88A4291-D214-E66B-125E-B3CB797F3E9C}"/>
              </a:ext>
            </a:extLst>
          </p:cNvPr>
          <p:cNvGrpSpPr/>
          <p:nvPr/>
        </p:nvGrpSpPr>
        <p:grpSpPr>
          <a:xfrm>
            <a:off x="508000" y="1460499"/>
            <a:ext cx="2956878" cy="1762169"/>
            <a:chOff x="508000" y="1460500"/>
            <a:chExt cx="2956878" cy="1460500"/>
          </a:xfrm>
        </p:grpSpPr>
        <p:sp>
          <p:nvSpPr>
            <p:cNvPr id="9" name="Rounded Rectangle 8"/>
            <p:cNvSpPr/>
            <p:nvPr/>
          </p:nvSpPr>
          <p:spPr>
            <a:xfrm>
              <a:off x="508000" y="1460500"/>
              <a:ext cx="2956878" cy="146050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7700" y="1574800"/>
              <a:ext cx="2677478" cy="1231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2000" b="1" i="0" dirty="0" err="1">
                  <a:solidFill>
                    <a:srgbClr val="F96167"/>
                  </a:solidFill>
                  <a:latin typeface="Malgun Gothic"/>
                </a:rPr>
                <a:t>실행</a:t>
              </a:r>
              <a:r>
                <a:rPr sz="2000" b="1" i="0" dirty="0">
                  <a:solidFill>
                    <a:srgbClr val="F96167"/>
                  </a:solidFill>
                  <a:latin typeface="Malgun Gothic"/>
                </a:rPr>
                <a:t> </a:t>
              </a:r>
              <a:r>
                <a:rPr sz="2000" b="1" i="0" dirty="0" err="1">
                  <a:solidFill>
                    <a:srgbClr val="F96167"/>
                  </a:solidFill>
                  <a:latin typeface="Malgun Gothic"/>
                </a:rPr>
                <a:t>위치</a:t>
              </a:r>
              <a:r>
                <a:rPr sz="2000" b="1" i="0" dirty="0">
                  <a:solidFill>
                    <a:srgbClr val="F96167"/>
                  </a:solidFill>
                  <a:latin typeface="Malgun Gothic"/>
                </a:rPr>
                <a:t>
</a:t>
              </a:r>
              <a:r>
                <a:rPr lang="en-US" altLang="ko-KR" sz="1600" b="0" i="0" dirty="0">
                  <a:solidFill>
                    <a:srgbClr val="1B2733"/>
                  </a:solidFill>
                  <a:latin typeface="Malgun Gothic"/>
                </a:rPr>
                <a:t>Release</a:t>
              </a:r>
              <a:endParaRPr sz="18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D21D6F2-7108-FCC1-498C-2D25E15DC612}"/>
              </a:ext>
            </a:extLst>
          </p:cNvPr>
          <p:cNvGrpSpPr/>
          <p:nvPr/>
        </p:nvGrpSpPr>
        <p:grpSpPr>
          <a:xfrm>
            <a:off x="3579178" y="1460499"/>
            <a:ext cx="2956878" cy="1762169"/>
            <a:chOff x="3579178" y="1460500"/>
            <a:chExt cx="2956878" cy="1460500"/>
          </a:xfrm>
        </p:grpSpPr>
        <p:sp>
          <p:nvSpPr>
            <p:cNvPr id="11" name="Rounded Rectangle 10"/>
            <p:cNvSpPr/>
            <p:nvPr/>
          </p:nvSpPr>
          <p:spPr>
            <a:xfrm>
              <a:off x="3579178" y="1460500"/>
              <a:ext cx="2956878" cy="146050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18878" y="1574800"/>
              <a:ext cx="2677478" cy="1231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000" b="1" i="0" dirty="0" err="1">
                  <a:solidFill>
                    <a:srgbClr val="1C7293"/>
                  </a:solidFill>
                  <a:latin typeface="Malgun Gothic"/>
                </a:rPr>
                <a:t>실험</a:t>
              </a:r>
              <a:r>
                <a:rPr sz="2000" b="1" i="0" dirty="0">
                  <a:solidFill>
                    <a:srgbClr val="1C7293"/>
                  </a:solidFill>
                  <a:latin typeface="Malgun Gothic"/>
                </a:rPr>
                <a:t> </a:t>
              </a:r>
              <a:r>
                <a:rPr sz="2000" b="1" i="0" dirty="0" err="1">
                  <a:solidFill>
                    <a:srgbClr val="1C7293"/>
                  </a:solidFill>
                  <a:latin typeface="Malgun Gothic"/>
                </a:rPr>
                <a:t>기록</a:t>
              </a:r>
              <a:endParaRPr sz="2000" b="1" i="0" dirty="0">
                <a:solidFill>
                  <a:srgbClr val="1C729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800" b="0" i="0" dirty="0">
                  <a:solidFill>
                    <a:srgbClr val="1B2733"/>
                  </a:solidFill>
                  <a:latin typeface="Malgun Gothic"/>
                </a:rPr>
                <a:t>YAML</a:t>
              </a: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800" b="0" i="0" dirty="0">
                  <a:solidFill>
                    <a:srgbClr val="1B2733"/>
                  </a:solidFill>
                  <a:latin typeface="Malgun Gothic"/>
                </a:rPr>
                <a:t>output.name/tag</a:t>
              </a: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800" b="0" i="0" dirty="0">
                  <a:solidFill>
                    <a:srgbClr val="1B2733"/>
                  </a:solidFill>
                  <a:latin typeface="Malgun Gothic"/>
                </a:rPr>
                <a:t>dashboard </a:t>
              </a:r>
              <a:r>
                <a:rPr sz="1800" b="0" i="0" dirty="0" err="1">
                  <a:solidFill>
                    <a:srgbClr val="1B2733"/>
                  </a:solidFill>
                  <a:latin typeface="Malgun Gothic"/>
                </a:rPr>
                <a:t>config.json</a:t>
              </a:r>
              <a:endParaRPr sz="1800" b="0" i="0" dirty="0">
                <a:solidFill>
                  <a:srgbClr val="1B2733"/>
                </a:solidFill>
                <a:latin typeface="Malgun Gothic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8FD049B-ACE8-D440-558D-E4A3E846EE01}"/>
              </a:ext>
            </a:extLst>
          </p:cNvPr>
          <p:cNvGrpSpPr/>
          <p:nvPr/>
        </p:nvGrpSpPr>
        <p:grpSpPr>
          <a:xfrm>
            <a:off x="508000" y="3273293"/>
            <a:ext cx="2956878" cy="1762169"/>
            <a:chOff x="508000" y="3035300"/>
            <a:chExt cx="2956878" cy="1460500"/>
          </a:xfrm>
        </p:grpSpPr>
        <p:sp>
          <p:nvSpPr>
            <p:cNvPr id="13" name="Rounded Rectangle 12"/>
            <p:cNvSpPr/>
            <p:nvPr/>
          </p:nvSpPr>
          <p:spPr>
            <a:xfrm>
              <a:off x="508000" y="3035300"/>
              <a:ext cx="2956878" cy="146050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7700" y="3149600"/>
              <a:ext cx="2677478" cy="1231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000" b="1" i="0" dirty="0" err="1">
                  <a:solidFill>
                    <a:srgbClr val="1F8A5F"/>
                  </a:solidFill>
                  <a:latin typeface="Malgun Gothic"/>
                </a:rPr>
                <a:t>모델</a:t>
              </a:r>
              <a:r>
                <a:rPr sz="2000" b="1" i="0" dirty="0">
                  <a:solidFill>
                    <a:srgbClr val="1F8A5F"/>
                  </a:solidFill>
                  <a:latin typeface="Malgun Gothic"/>
                </a:rPr>
                <a:t> </a:t>
              </a:r>
              <a:r>
                <a:rPr sz="2000" b="1" i="0" dirty="0" err="1">
                  <a:solidFill>
                    <a:srgbClr val="1F8A5F"/>
                  </a:solidFill>
                  <a:latin typeface="Malgun Gothic"/>
                </a:rPr>
                <a:t>파일</a:t>
              </a:r>
              <a:endParaRPr sz="2000" b="1" i="0" dirty="0">
                <a:solidFill>
                  <a:srgbClr val="1F8A5F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sz="1800" b="0" i="0" dirty="0" err="1">
                  <a:solidFill>
                    <a:srgbClr val="1B2733"/>
                  </a:solidFill>
                  <a:latin typeface="Malgun Gothic"/>
                </a:rPr>
                <a:t>metadata.json</a:t>
              </a:r>
              <a:endParaRPr sz="1800" b="0" i="0" dirty="0">
                <a:solidFill>
                  <a:srgbClr val="1B2733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800" b="0" i="0" dirty="0">
                  <a:solidFill>
                    <a:srgbClr val="1B2733"/>
                  </a:solidFill>
                  <a:latin typeface="Malgun Gothic"/>
                </a:rPr>
                <a:t>policy_weights.pkl.gz</a:t>
              </a:r>
            </a:p>
            <a:p>
              <a:pPr algn="l">
                <a:lnSpc>
                  <a:spcPct val="120000"/>
                </a:lnSpc>
                <a:spcBef>
                  <a:spcPts val="200"/>
                </a:spcBef>
              </a:pPr>
              <a:r>
                <a:rPr sz="1800" b="0" i="0" dirty="0">
                  <a:solidFill>
                    <a:srgbClr val="1B2733"/>
                  </a:solidFill>
                  <a:latin typeface="Malgun Gothic"/>
                </a:rPr>
                <a:t>bundle path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15A8745-CAA4-5858-9285-705451E1E0B3}"/>
              </a:ext>
            </a:extLst>
          </p:cNvPr>
          <p:cNvGrpSpPr/>
          <p:nvPr/>
        </p:nvGrpSpPr>
        <p:grpSpPr>
          <a:xfrm>
            <a:off x="3579178" y="3273293"/>
            <a:ext cx="2956878" cy="1762169"/>
            <a:chOff x="3579178" y="3035300"/>
            <a:chExt cx="2956878" cy="1460500"/>
          </a:xfrm>
        </p:grpSpPr>
        <p:sp>
          <p:nvSpPr>
            <p:cNvPr id="15" name="Rounded Rectangle 14"/>
            <p:cNvSpPr/>
            <p:nvPr/>
          </p:nvSpPr>
          <p:spPr>
            <a:xfrm>
              <a:off x="3579178" y="3035300"/>
              <a:ext cx="2956878" cy="146050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12700">
              <a:solidFill>
                <a:srgbClr val="DCE2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18878" y="3149600"/>
              <a:ext cx="2677478" cy="1231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000" b="1" i="0" dirty="0" err="1">
                  <a:solidFill>
                    <a:srgbClr val="065A82"/>
                  </a:solidFill>
                  <a:latin typeface="Malgun Gothic"/>
                </a:rPr>
                <a:t>제출</a:t>
              </a:r>
              <a:r>
                <a:rPr sz="2000" b="1" i="0" dirty="0">
                  <a:solidFill>
                    <a:srgbClr val="065A82"/>
                  </a:solidFill>
                  <a:latin typeface="Malgun Gothic"/>
                </a:rPr>
                <a:t> </a:t>
              </a:r>
              <a:r>
                <a:rPr sz="2000" b="1" i="0" dirty="0" err="1">
                  <a:solidFill>
                    <a:srgbClr val="065A82"/>
                  </a:solidFill>
                  <a:latin typeface="Malgun Gothic"/>
                </a:rPr>
                <a:t>계약</a:t>
              </a:r>
              <a:endParaRPr lang="en-US" sz="2000" b="1" i="0" dirty="0">
                <a:solidFill>
                  <a:srgbClr val="065A82"/>
                </a:solidFill>
                <a:latin typeface="Malgun Gothic"/>
              </a:endParaRP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lang="en-US" altLang="ko-KR" b="0" i="0" dirty="0">
                  <a:solidFill>
                    <a:srgbClr val="1B2733"/>
                  </a:solidFill>
                  <a:latin typeface="Malgun Gothic"/>
                </a:rPr>
                <a:t>student/*</a:t>
              </a:r>
            </a:p>
            <a:p>
              <a:pPr algn="l">
                <a:lnSpc>
                  <a:spcPct val="120000"/>
                </a:lnSpc>
                <a:spcBef>
                  <a:spcPts val="800"/>
                </a:spcBef>
              </a:pPr>
              <a:r>
                <a:rPr lang="en-US" altLang="ko-KR" b="0" i="0" dirty="0">
                  <a:solidFill>
                    <a:srgbClr val="1B2733"/>
                  </a:solidFill>
                  <a:latin typeface="Malgun Gothic"/>
                </a:rPr>
                <a:t>artifacts/models/&lt;output team&gt;/&lt;output tag &gt;</a:t>
              </a:r>
              <a:endParaRPr sz="2000" b="1" i="0" dirty="0">
                <a:solidFill>
                  <a:srgbClr val="065A82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A26769"/>
                </a:solidFill>
                <a:latin typeface="Malgun Gothic"/>
              </a:rPr>
              <a:t>Appendix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오류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FAQ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460500"/>
            <a:ext cx="2794000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6900" y="1495342"/>
            <a:ext cx="2616200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증상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2000" y="1460500"/>
            <a:ext cx="4656667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0900" y="1495342"/>
            <a:ext cx="4478867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먼저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8667" y="1460500"/>
            <a:ext cx="3725333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7567" y="1495342"/>
            <a:ext cx="3547533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조치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1803400"/>
            <a:ext cx="27940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596900" y="1884421"/>
            <a:ext cx="26162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DLL 오류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2000" y="1803400"/>
            <a:ext cx="4656667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3390900" y="1884421"/>
            <a:ext cx="4478867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Release 루트와 파일명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8667" y="1803400"/>
            <a:ext cx="3725333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8047567" y="1884421"/>
            <a:ext cx="3547533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위치/이름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2222500"/>
            <a:ext cx="2794000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596900" y="2303521"/>
            <a:ext cx="26162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import 실패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02000" y="2222500"/>
            <a:ext cx="4656667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3390900" y="2303521"/>
            <a:ext cx="4478867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Python/venv/requirements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8667" y="2222500"/>
            <a:ext cx="3725333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26" name="TextBox 25"/>
          <p:cNvSpPr txBox="1"/>
          <p:nvPr/>
        </p:nvSpPr>
        <p:spPr>
          <a:xfrm>
            <a:off x="8047567" y="2303521"/>
            <a:ext cx="3547533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환경 재확인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2641600"/>
            <a:ext cx="27940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596900" y="2722621"/>
            <a:ext cx="26162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모델 로드 실패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2000" y="2641600"/>
            <a:ext cx="4656667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30" name="TextBox 29"/>
          <p:cNvSpPr txBox="1"/>
          <p:nvPr/>
        </p:nvSpPr>
        <p:spPr>
          <a:xfrm>
            <a:off x="3390900" y="2722621"/>
            <a:ext cx="4478867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BUNDLE_DIR와 파일 2개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8667" y="2641600"/>
            <a:ext cx="3725333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32" name="TextBox 31"/>
          <p:cNvSpPr txBox="1"/>
          <p:nvPr/>
        </p:nvSpPr>
        <p:spPr>
          <a:xfrm>
            <a:off x="8047567" y="2722621"/>
            <a:ext cx="3547533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metadata/weights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060700"/>
            <a:ext cx="2794000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34" name="TextBox 33"/>
          <p:cNvSpPr txBox="1"/>
          <p:nvPr/>
        </p:nvSpPr>
        <p:spPr>
          <a:xfrm>
            <a:off x="596900" y="3141721"/>
            <a:ext cx="26162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관측 오류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02000" y="3060700"/>
            <a:ext cx="4656667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36" name="TextBox 35"/>
          <p:cNvSpPr txBox="1"/>
          <p:nvPr/>
        </p:nvSpPr>
        <p:spPr>
          <a:xfrm>
            <a:off x="3390900" y="3141721"/>
            <a:ext cx="4478867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mode/module/shape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8667" y="3060700"/>
            <a:ext cx="3725333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38" name="TextBox 37"/>
          <p:cNvSpPr txBox="1"/>
          <p:nvPr/>
        </p:nvSpPr>
        <p:spPr>
          <a:xfrm>
            <a:off x="8047567" y="3141721"/>
            <a:ext cx="3547533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학습 설정과 제출 설정 비교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3479800"/>
            <a:ext cx="279400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40" name="TextBox 39"/>
          <p:cNvSpPr txBox="1"/>
          <p:nvPr/>
        </p:nvSpPr>
        <p:spPr>
          <a:xfrm>
            <a:off x="596900" y="3560821"/>
            <a:ext cx="26162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서버 무응답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02000" y="3479800"/>
            <a:ext cx="4656667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42" name="TextBox 41"/>
          <p:cNvSpPr txBox="1"/>
          <p:nvPr/>
        </p:nvSpPr>
        <p:spPr>
          <a:xfrm>
            <a:off x="3390900" y="3560821"/>
            <a:ext cx="4478867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IP/port/방화벽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8667" y="3479800"/>
            <a:ext cx="3725333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44" name="TextBox 43"/>
          <p:cNvSpPr txBox="1"/>
          <p:nvPr/>
        </p:nvSpPr>
        <p:spPr>
          <a:xfrm>
            <a:off x="8047567" y="3560821"/>
            <a:ext cx="3547533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운영 공지와 네트워크 확인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A26769"/>
                </a:solidFill>
                <a:latin typeface="Malgun Gothic"/>
              </a:rPr>
              <a:t>Appendix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로그는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다음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가설의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근거입니다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8000" y="1460500"/>
            <a:ext cx="2905760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6900" y="1495342"/>
            <a:ext cx="2727960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로그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3760" y="1460500"/>
            <a:ext cx="5140960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660" y="1495342"/>
            <a:ext cx="4963160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볼 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54720" y="1460500"/>
            <a:ext cx="3129280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3620" y="1495342"/>
            <a:ext cx="2951480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사용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1803400"/>
            <a:ext cx="290576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596900" y="1884421"/>
            <a:ext cx="272796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training_log.csv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3760" y="1803400"/>
            <a:ext cx="514096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3502660" y="1884421"/>
            <a:ext cx="496316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reward, crash, win, WEZ, distance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54720" y="1803400"/>
            <a:ext cx="312928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8643620" y="1884421"/>
            <a:ext cx="295148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학습 추세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2222500"/>
            <a:ext cx="2905760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596900" y="2303521"/>
            <a:ext cx="272796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metrics.jsonl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13760" y="2222500"/>
            <a:ext cx="5140960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3502660" y="2303521"/>
            <a:ext cx="496316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dashboard scalar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4720" y="2222500"/>
            <a:ext cx="3129280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26" name="TextBox 25"/>
          <p:cNvSpPr txBox="1"/>
          <p:nvPr/>
        </p:nvSpPr>
        <p:spPr>
          <a:xfrm>
            <a:off x="8643620" y="2303521"/>
            <a:ext cx="295148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시각 비교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2641600"/>
            <a:ext cx="290576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596900" y="2722621"/>
            <a:ext cx="272796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config.json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13760" y="2641600"/>
            <a:ext cx="514096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30" name="TextBox 29"/>
          <p:cNvSpPr txBox="1"/>
          <p:nvPr/>
        </p:nvSpPr>
        <p:spPr>
          <a:xfrm>
            <a:off x="3502660" y="2722621"/>
            <a:ext cx="496316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YAML/CLI/module 설정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54720" y="2641600"/>
            <a:ext cx="312928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32" name="TextBox 31"/>
          <p:cNvSpPr txBox="1"/>
          <p:nvPr/>
        </p:nvSpPr>
        <p:spPr>
          <a:xfrm>
            <a:off x="8643620" y="2722621"/>
            <a:ext cx="295148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조건 비교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060700"/>
            <a:ext cx="2905760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34" name="TextBox 33"/>
          <p:cNvSpPr txBox="1"/>
          <p:nvPr/>
        </p:nvSpPr>
        <p:spPr>
          <a:xfrm>
            <a:off x="596900" y="3141721"/>
            <a:ext cx="272796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Tacview CSV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13760" y="3060700"/>
            <a:ext cx="5140960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36" name="TextBox 35"/>
          <p:cNvSpPr txBox="1"/>
          <p:nvPr/>
        </p:nvSpPr>
        <p:spPr>
          <a:xfrm>
            <a:off x="3502660" y="3141721"/>
            <a:ext cx="496316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위치, 자세, health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54720" y="3060700"/>
            <a:ext cx="3129280" cy="4191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38" name="TextBox 37"/>
          <p:cNvSpPr txBox="1"/>
          <p:nvPr/>
        </p:nvSpPr>
        <p:spPr>
          <a:xfrm>
            <a:off x="8643620" y="3141721"/>
            <a:ext cx="295148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로컬 교전 복기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3479800"/>
            <a:ext cx="290576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40" name="TextBox 39"/>
          <p:cNvSpPr txBox="1"/>
          <p:nvPr/>
        </p:nvSpPr>
        <p:spPr>
          <a:xfrm>
            <a:off x="596900" y="3560821"/>
            <a:ext cx="272796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summary.json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13760" y="3479800"/>
            <a:ext cx="514096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42" name="TextBox 41"/>
          <p:cNvSpPr txBox="1"/>
          <p:nvPr/>
        </p:nvSpPr>
        <p:spPr>
          <a:xfrm>
            <a:off x="3502660" y="3560821"/>
            <a:ext cx="496316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end_condition, outcome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54720" y="3479800"/>
            <a:ext cx="312928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400"/>
          </a:p>
        </p:txBody>
      </p:sp>
      <p:sp>
        <p:nvSpPr>
          <p:cNvPr id="44" name="TextBox 43"/>
          <p:cNvSpPr txBox="1"/>
          <p:nvPr/>
        </p:nvSpPr>
        <p:spPr>
          <a:xfrm>
            <a:off x="8643620" y="3560821"/>
            <a:ext cx="295148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2733"/>
                </a:solidFill>
                <a:latin typeface="Malgun Gothic"/>
              </a:rPr>
              <a:t>종료 사유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A26769"/>
                </a:solidFill>
                <a:latin typeface="Malgun Gothic"/>
              </a:rPr>
              <a:t>Appendix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긴 CLI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명령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모음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2FF6AF8-9DCB-842D-BB48-36AA2930DE69}"/>
              </a:ext>
            </a:extLst>
          </p:cNvPr>
          <p:cNvGrpSpPr/>
          <p:nvPr/>
        </p:nvGrpSpPr>
        <p:grpSpPr>
          <a:xfrm>
            <a:off x="508000" y="1460500"/>
            <a:ext cx="11176000" cy="1116330"/>
            <a:chOff x="508000" y="1460500"/>
            <a:chExt cx="11176000" cy="640080"/>
          </a:xfrm>
        </p:grpSpPr>
        <p:sp>
          <p:nvSpPr>
            <p:cNvPr id="9" name="Rounded Rectangle 8"/>
            <p:cNvSpPr/>
            <p:nvPr/>
          </p:nvSpPr>
          <p:spPr>
            <a:xfrm>
              <a:off x="508000" y="1460500"/>
              <a:ext cx="11176000" cy="640080"/>
            </a:xfrm>
            <a:prstGeom prst="roundRect">
              <a:avLst>
                <a:gd name="adj" fmla="val 11904"/>
              </a:avLst>
            </a:prstGeom>
            <a:solidFill>
              <a:srgbClr val="0E17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5000" y="1524000"/>
              <a:ext cx="10922000" cy="4936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lang="en-US" b="1" i="0" dirty="0">
                  <a:solidFill>
                    <a:srgbClr val="E6EDF3"/>
                  </a:solidFill>
                  <a:latin typeface="Cascadia Mono"/>
                </a:rPr>
                <a:t>YAML dry-run
</a:t>
              </a:r>
              <a:r>
                <a:rPr lang="en-US" sz="1400" b="1" i="0" dirty="0">
                  <a:solidFill>
                    <a:srgbClr val="E6EDF3"/>
                  </a:solidFill>
                  <a:latin typeface="Cascadia Mono"/>
                </a:rPr>
                <a:t>python scripts\run_experiment.py experiments\student_sac_mlp.yaml --dry-run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en-US" b="1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en-US" b="1" i="0" dirty="0">
                <a:solidFill>
                  <a:srgbClr val="E6EDF3"/>
                </a:solidFill>
                <a:latin typeface="Cascadia Mono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11EA368-581E-1C06-8940-52082E6853E0}"/>
              </a:ext>
            </a:extLst>
          </p:cNvPr>
          <p:cNvGrpSpPr/>
          <p:nvPr/>
        </p:nvGrpSpPr>
        <p:grpSpPr>
          <a:xfrm>
            <a:off x="508000" y="2765424"/>
            <a:ext cx="11176000" cy="1351282"/>
            <a:chOff x="508000" y="2164079"/>
            <a:chExt cx="11176000" cy="1066511"/>
          </a:xfrm>
        </p:grpSpPr>
        <p:sp>
          <p:nvSpPr>
            <p:cNvPr id="11" name="Rounded Rectangle 10"/>
            <p:cNvSpPr/>
            <p:nvPr/>
          </p:nvSpPr>
          <p:spPr>
            <a:xfrm>
              <a:off x="508000" y="2164079"/>
              <a:ext cx="11176000" cy="1066510"/>
            </a:xfrm>
            <a:prstGeom prst="roundRect">
              <a:avLst>
                <a:gd name="adj" fmla="val 8498"/>
              </a:avLst>
            </a:prstGeom>
            <a:solidFill>
              <a:srgbClr val="0E17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5000" y="2227580"/>
              <a:ext cx="10922000" cy="10030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ko-KR" altLang="en-US" b="1" i="0" dirty="0">
                  <a:solidFill>
                    <a:srgbClr val="E6EDF3"/>
                  </a:solidFill>
                  <a:latin typeface="Cascadia Mono"/>
                </a:rPr>
                <a:t>단일 학습
</a:t>
              </a:r>
              <a:r>
                <a:rPr lang="ko-KR" altLang="en-US" sz="1400" b="1" i="0" dirty="0">
                  <a:solidFill>
                    <a:srgbClr val="E6EDF3"/>
                  </a:solidFill>
                  <a:latin typeface="Cascadia Mono"/>
                </a:rPr>
                <a:t>python scripts\run_experiment.py experiments\student_sac_mlp.yaml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ko-KR" altLang="en-US" sz="1400" b="1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sz="1100" b="0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sz="1100" b="0" i="0" dirty="0">
                <a:solidFill>
                  <a:srgbClr val="E6EDF3"/>
                </a:solidFill>
                <a:latin typeface="Cascadia Mono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A781792-59B2-6BE9-E0C8-284BFE4277A3}"/>
              </a:ext>
            </a:extLst>
          </p:cNvPr>
          <p:cNvGrpSpPr/>
          <p:nvPr/>
        </p:nvGrpSpPr>
        <p:grpSpPr>
          <a:xfrm>
            <a:off x="508000" y="4305299"/>
            <a:ext cx="11176000" cy="1351281"/>
            <a:chOff x="508000" y="3124200"/>
            <a:chExt cx="11176000" cy="896620"/>
          </a:xfrm>
        </p:grpSpPr>
        <p:sp>
          <p:nvSpPr>
            <p:cNvPr id="13" name="Rounded Rectangle 12"/>
            <p:cNvSpPr/>
            <p:nvPr/>
          </p:nvSpPr>
          <p:spPr>
            <a:xfrm>
              <a:off x="508000" y="3124200"/>
              <a:ext cx="11176000" cy="896620"/>
            </a:xfrm>
            <a:prstGeom prst="roundRect">
              <a:avLst>
                <a:gd name="adj" fmla="val 8498"/>
              </a:avLst>
            </a:prstGeom>
            <a:solidFill>
              <a:srgbClr val="0E17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5000" y="3187700"/>
              <a:ext cx="10922000" cy="7696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ko-KR" altLang="en-US" b="1" i="0" dirty="0">
                  <a:solidFill>
                    <a:srgbClr val="E6EDF3"/>
                  </a:solidFill>
                  <a:latin typeface="Cascadia Mono"/>
                </a:rPr>
                <a:t>custom 관측 학습
</a:t>
              </a:r>
              <a:r>
                <a:rPr lang="ko-KR" altLang="en-US" sz="1400" b="1" i="0" dirty="0">
                  <a:solidFill>
                    <a:srgbClr val="E6EDF3"/>
                  </a:solidFill>
                  <a:latin typeface="Cascadia Mono"/>
                </a:rPr>
                <a:t>student_sac_mlp.yaml에서 observation_mode: custom,
observation_module: student.my_observation 활성화</a:t>
              </a:r>
              <a:endParaRPr lang="en-US" sz="1400" b="1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en-US" b="1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sz="1400" b="0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sz="1400" b="0" i="0" dirty="0">
                <a:solidFill>
                  <a:srgbClr val="E6EDF3"/>
                </a:solidFill>
                <a:latin typeface="Cascadia Mono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A26769"/>
                </a:solidFill>
                <a:latin typeface="Malgun Gothic"/>
              </a:rPr>
              <a:t>Appendix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긴 CLI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명령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모음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2FF6AF8-9DCB-842D-BB48-36AA2930DE69}"/>
              </a:ext>
            </a:extLst>
          </p:cNvPr>
          <p:cNvGrpSpPr/>
          <p:nvPr/>
        </p:nvGrpSpPr>
        <p:grpSpPr>
          <a:xfrm>
            <a:off x="508000" y="1460500"/>
            <a:ext cx="11176000" cy="1465240"/>
            <a:chOff x="508000" y="1460500"/>
            <a:chExt cx="11176000" cy="640080"/>
          </a:xfrm>
        </p:grpSpPr>
        <p:sp>
          <p:nvSpPr>
            <p:cNvPr id="9" name="Rounded Rectangle 8"/>
            <p:cNvSpPr/>
            <p:nvPr/>
          </p:nvSpPr>
          <p:spPr>
            <a:xfrm>
              <a:off x="508000" y="1460500"/>
              <a:ext cx="11176000" cy="640080"/>
            </a:xfrm>
            <a:prstGeom prst="roundRect">
              <a:avLst>
                <a:gd name="adj" fmla="val 11904"/>
              </a:avLst>
            </a:prstGeom>
            <a:solidFill>
              <a:srgbClr val="0E17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5000" y="1524000"/>
              <a:ext cx="10922000" cy="4936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lang="en-US" b="1" i="0" dirty="0">
                  <a:solidFill>
                    <a:srgbClr val="E6EDF3"/>
                  </a:solidFill>
                  <a:latin typeface="Cascadia Mono"/>
                </a:rPr>
                <a:t>Native checkpoint </a:t>
              </a:r>
              <a:r>
                <a:rPr lang="ko-KR" altLang="en-US" b="1" i="0" dirty="0">
                  <a:solidFill>
                    <a:srgbClr val="E6EDF3"/>
                  </a:solidFill>
                  <a:latin typeface="Cascadia Mono"/>
                </a:rPr>
                <a:t>재개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lang="en-US" altLang="ko-KR" sz="1400" b="0" i="0" dirty="0">
                  <a:solidFill>
                    <a:srgbClr val="E6EDF3"/>
                  </a:solidFill>
                  <a:latin typeface="Cascadia Mono"/>
                </a:rPr>
                <a:t>python train_rllib.py --algorithm sac --iterations 50 `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lang="en-US" altLang="ko-KR" sz="1400" b="0" i="0" dirty="0">
                  <a:solidFill>
                    <a:srgbClr val="E6EDF3"/>
                  </a:solidFill>
                  <a:latin typeface="Cascadia Mono"/>
                </a:rPr>
                <a:t>  --restore-checkpoint artifacts\checkpoints\team01\v1 `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lang="en-US" altLang="ko-KR" sz="1400" b="0" i="0" dirty="0">
                  <a:solidFill>
                    <a:srgbClr val="E6EDF3"/>
                  </a:solidFill>
                  <a:latin typeface="Cascadia Mono"/>
                </a:rPr>
                <a:t>  --output-name team01 --output-tag v1_resume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ko-KR" altLang="en-US" sz="1400" b="0" i="0" dirty="0">
                <a:solidFill>
                  <a:srgbClr val="E6EDF3"/>
                </a:solidFill>
                <a:latin typeface="Cascadia Mono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11EA368-581E-1C06-8940-52082E6853E0}"/>
              </a:ext>
            </a:extLst>
          </p:cNvPr>
          <p:cNvGrpSpPr/>
          <p:nvPr/>
        </p:nvGrpSpPr>
        <p:grpSpPr>
          <a:xfrm>
            <a:off x="508000" y="3210071"/>
            <a:ext cx="11176000" cy="1351282"/>
            <a:chOff x="508000" y="2164079"/>
            <a:chExt cx="11176000" cy="1066511"/>
          </a:xfrm>
        </p:grpSpPr>
        <p:sp>
          <p:nvSpPr>
            <p:cNvPr id="11" name="Rounded Rectangle 10"/>
            <p:cNvSpPr/>
            <p:nvPr/>
          </p:nvSpPr>
          <p:spPr>
            <a:xfrm>
              <a:off x="508000" y="2164079"/>
              <a:ext cx="11176000" cy="1066510"/>
            </a:xfrm>
            <a:prstGeom prst="roundRect">
              <a:avLst>
                <a:gd name="adj" fmla="val 8498"/>
              </a:avLst>
            </a:prstGeom>
            <a:solidFill>
              <a:srgbClr val="0E17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5000" y="2227580"/>
              <a:ext cx="10922000" cy="10030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ko-KR" b="1" i="0" dirty="0">
                  <a:solidFill>
                    <a:srgbClr val="E6EDF3"/>
                  </a:solidFill>
                  <a:latin typeface="Cascadia Mono"/>
                </a:rPr>
                <a:t>Lightweight bundle </a:t>
              </a:r>
              <a:r>
                <a:rPr lang="ko-KR" altLang="en-US" b="1" i="0" dirty="0">
                  <a:solidFill>
                    <a:srgbClr val="E6EDF3"/>
                  </a:solidFill>
                  <a:latin typeface="Cascadia Mono"/>
                </a:rPr>
                <a:t>재시작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lang="en-US" altLang="ko-KR" sz="1400" b="0" i="0" dirty="0">
                  <a:solidFill>
                    <a:srgbClr val="E6EDF3"/>
                  </a:solidFill>
                  <a:latin typeface="Cascadia Mono"/>
                </a:rPr>
                <a:t>python train_rllib.py --algorithm sac --iterations 50 `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lang="en-US" altLang="ko-KR" sz="1400" b="0" i="0" dirty="0">
                  <a:solidFill>
                    <a:srgbClr val="E6EDF3"/>
                  </a:solidFill>
                  <a:latin typeface="Cascadia Mono"/>
                </a:rPr>
                <a:t>  --</a:t>
              </a:r>
              <a:r>
                <a:rPr lang="en-US" altLang="ko-KR" sz="1400" b="0" i="0" dirty="0" err="1">
                  <a:solidFill>
                    <a:srgbClr val="E6EDF3"/>
                  </a:solidFill>
                  <a:latin typeface="Cascadia Mono"/>
                </a:rPr>
                <a:t>init</a:t>
              </a:r>
              <a:r>
                <a:rPr lang="en-US" altLang="ko-KR" sz="1400" b="0" i="0" dirty="0">
                  <a:solidFill>
                    <a:srgbClr val="E6EDF3"/>
                  </a:solidFill>
                  <a:latin typeface="Cascadia Mono"/>
                </a:rPr>
                <a:t>-bundle artifacts\models\team01\v1 `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lang="en-US" altLang="ko-KR" sz="1400" b="0" i="0" dirty="0">
                  <a:solidFill>
                    <a:srgbClr val="E6EDF3"/>
                  </a:solidFill>
                  <a:latin typeface="Cascadia Mono"/>
                </a:rPr>
                <a:t>  --output-name team01 --output-tag bundle_restart_v1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ko-KR" altLang="en-US" sz="1400" b="0" i="0" dirty="0">
                <a:solidFill>
                  <a:srgbClr val="E6EDF3"/>
                </a:solidFill>
                <a:latin typeface="Cascadia Mono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F33C181-09C7-CCC7-065F-2713446125EA}"/>
              </a:ext>
            </a:extLst>
          </p:cNvPr>
          <p:cNvGrpSpPr/>
          <p:nvPr/>
        </p:nvGrpSpPr>
        <p:grpSpPr>
          <a:xfrm>
            <a:off x="508000" y="4845684"/>
            <a:ext cx="11176000" cy="1644015"/>
            <a:chOff x="508000" y="2164079"/>
            <a:chExt cx="11176000" cy="1066511"/>
          </a:xfrm>
        </p:grpSpPr>
        <p:sp>
          <p:nvSpPr>
            <p:cNvPr id="32" name="Rounded Rectangle 10">
              <a:extLst>
                <a:ext uri="{FF2B5EF4-FFF2-40B4-BE49-F238E27FC236}">
                  <a16:creationId xmlns:a16="http://schemas.microsoft.com/office/drawing/2014/main" id="{E016850D-3A19-F17C-F059-44B8B8A23626}"/>
                </a:ext>
              </a:extLst>
            </p:cNvPr>
            <p:cNvSpPr/>
            <p:nvPr/>
          </p:nvSpPr>
          <p:spPr>
            <a:xfrm>
              <a:off x="508000" y="2164079"/>
              <a:ext cx="11176000" cy="1066510"/>
            </a:xfrm>
            <a:prstGeom prst="roundRect">
              <a:avLst>
                <a:gd name="adj" fmla="val 8498"/>
              </a:avLst>
            </a:prstGeom>
            <a:solidFill>
              <a:srgbClr val="0E17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8AB7AC-446F-020B-A8FE-FF927A65E661}"/>
                </a:ext>
              </a:extLst>
            </p:cNvPr>
            <p:cNvSpPr txBox="1"/>
            <p:nvPr/>
          </p:nvSpPr>
          <p:spPr>
            <a:xfrm>
              <a:off x="635000" y="2227580"/>
              <a:ext cx="10922000" cy="10030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ko-KR" b="1" i="0" dirty="0">
                  <a:solidFill>
                    <a:srgbClr val="E6EDF3"/>
                  </a:solidFill>
                  <a:latin typeface="Cascadia Mono"/>
                </a:rPr>
                <a:t>SAC LSTM YAML smoke
</a:t>
              </a:r>
              <a:r>
                <a:rPr lang="en-US" altLang="ko-KR" sz="1400" b="1" i="0" dirty="0">
                  <a:solidFill>
                    <a:srgbClr val="E6EDF3"/>
                  </a:solidFill>
                  <a:latin typeface="Cascadia Mono"/>
                </a:rPr>
                <a:t>ray stop --force
python scripts\run_experiment.py experiments\student_sac_lstm.yaml --dry-run
python scripts\run_experiment.py experiments\student_sac_lstm.yaml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en-US" altLang="ko-KR" b="1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en-US" altLang="ko-KR" b="1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en-US" altLang="ko-KR" b="1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en-US" altLang="ko-KR" b="1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lang="ko-KR" altLang="en-US" sz="1400" b="0" i="0" dirty="0">
                <a:solidFill>
                  <a:srgbClr val="E6EDF3"/>
                </a:solidFill>
                <a:latin typeface="Cascadia Mon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7578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A26769"/>
                </a:solidFill>
                <a:latin typeface="Malgun Gothic"/>
              </a:rPr>
              <a:t>Appendix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Unreal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접속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명령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588F841-7B9F-80EA-79F9-3CFB6AE4A5BA}"/>
              </a:ext>
            </a:extLst>
          </p:cNvPr>
          <p:cNvGrpSpPr/>
          <p:nvPr/>
        </p:nvGrpSpPr>
        <p:grpSpPr>
          <a:xfrm>
            <a:off x="508000" y="1460499"/>
            <a:ext cx="11176000" cy="1178559"/>
            <a:chOff x="508000" y="1460500"/>
            <a:chExt cx="11176000" cy="971550"/>
          </a:xfrm>
        </p:grpSpPr>
        <p:sp>
          <p:nvSpPr>
            <p:cNvPr id="9" name="Rounded Rectangle 8"/>
            <p:cNvSpPr/>
            <p:nvPr/>
          </p:nvSpPr>
          <p:spPr>
            <a:xfrm>
              <a:off x="508000" y="1460500"/>
              <a:ext cx="11176000" cy="971550"/>
            </a:xfrm>
            <a:prstGeom prst="roundRect">
              <a:avLst>
                <a:gd name="adj" fmla="val 7843"/>
              </a:avLst>
            </a:prstGeom>
            <a:solidFill>
              <a:srgbClr val="0E17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5000" y="1536700"/>
              <a:ext cx="10922000" cy="78406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sz="1400" b="0" i="0" dirty="0">
                  <a:solidFill>
                    <a:srgbClr val="E6EDF3"/>
                  </a:solidFill>
                  <a:latin typeface="Cascadia Mono"/>
                </a:rPr>
                <a:t>python run_unreal_inference.py --mode rl
  --bundle-dir artifacts\models\team01\sac_mlp_v1
  --team-name team01 --server-ip &lt;IP&gt; --server-port 9999
  --action-repeat 6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sz="1400" b="0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sz="1400" b="0" i="0" dirty="0">
                <a:solidFill>
                  <a:srgbClr val="E6EDF3"/>
                </a:solidFill>
                <a:latin typeface="Cascadia Mono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3351A1B-B225-4B9D-010C-2FF08B8C4066}"/>
              </a:ext>
            </a:extLst>
          </p:cNvPr>
          <p:cNvGrpSpPr/>
          <p:nvPr/>
        </p:nvGrpSpPr>
        <p:grpSpPr>
          <a:xfrm>
            <a:off x="508000" y="2878243"/>
            <a:ext cx="11176000" cy="1475316"/>
            <a:chOff x="508000" y="3012017"/>
            <a:chExt cx="11176000" cy="1178560"/>
          </a:xfrm>
        </p:grpSpPr>
        <p:sp>
          <p:nvSpPr>
            <p:cNvPr id="11" name="Rounded Rectangle 10"/>
            <p:cNvSpPr/>
            <p:nvPr/>
          </p:nvSpPr>
          <p:spPr>
            <a:xfrm>
              <a:off x="508000" y="3012017"/>
              <a:ext cx="11176000" cy="1178560"/>
            </a:xfrm>
            <a:prstGeom prst="roundRect">
              <a:avLst>
                <a:gd name="adj" fmla="val 6465"/>
              </a:avLst>
            </a:prstGeom>
            <a:solidFill>
              <a:srgbClr val="0E17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5000" y="3088217"/>
              <a:ext cx="10922000" cy="10533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sz="1400" b="0" i="0" dirty="0">
                  <a:solidFill>
                    <a:srgbClr val="E6EDF3"/>
                  </a:solidFill>
                  <a:latin typeface="Cascadia Mono"/>
                </a:rPr>
                <a:t>python run_unreal_inference.py --mode rl
  --bundle-dir artifacts\models\team01\observation_v1
  --observation-mode custom --observation-module student.my_observation
  --team-name team01 --server-ip &lt;IP&gt; --server-port 9999
  --action-repeat 6</a:t>
              </a: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sz="1400" b="0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sz="1400" b="0" i="0" dirty="0">
                <a:solidFill>
                  <a:srgbClr val="E6EDF3"/>
                </a:solidFill>
                <a:latin typeface="Cascadia Mono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endParaRPr sz="1400" b="0" i="0" dirty="0">
                <a:solidFill>
                  <a:srgbClr val="E6EDF3"/>
                </a:solidFill>
                <a:latin typeface="Cascadia Mono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3440B5-CC6A-D186-EC7A-D5D9CC4F4791}"/>
              </a:ext>
            </a:extLst>
          </p:cNvPr>
          <p:cNvGrpSpPr/>
          <p:nvPr/>
        </p:nvGrpSpPr>
        <p:grpSpPr>
          <a:xfrm>
            <a:off x="508000" y="4592744"/>
            <a:ext cx="11176000" cy="1681055"/>
            <a:chOff x="508000" y="5447879"/>
            <a:chExt cx="11176000" cy="491490"/>
          </a:xfrm>
        </p:grpSpPr>
        <p:sp>
          <p:nvSpPr>
            <p:cNvPr id="13" name="Rounded Rectangle 12"/>
            <p:cNvSpPr/>
            <p:nvPr/>
          </p:nvSpPr>
          <p:spPr>
            <a:xfrm>
              <a:off x="508000" y="5447879"/>
              <a:ext cx="11176000" cy="491490"/>
            </a:xfrm>
            <a:prstGeom prst="roundRect">
              <a:avLst>
                <a:gd name="adj" fmla="val 15503"/>
              </a:avLst>
            </a:prstGeom>
            <a:solidFill>
              <a:srgbClr val="0E17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5000" y="5524079"/>
              <a:ext cx="10922000" cy="2454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25000"/>
                </a:lnSpc>
                <a:spcBef>
                  <a:spcPts val="0"/>
                </a:spcBef>
              </a:pPr>
              <a:r>
                <a:rPr sz="1400" b="0" i="0" dirty="0">
                  <a:solidFill>
                    <a:srgbClr val="E6EDF3"/>
                  </a:solidFill>
                  <a:latin typeface="Cascadia Mono"/>
                </a:rPr>
                <a:t>python run_unreal_inference.py --mode hybrid
  --bundle-dir artifacts\models\team01\sac_mlp_v1
  --bt-dll AIP_BASE.dll --bt-rule-xml Rule_팀이름.xml
  --team-name team01 --server-ip &lt;IP&gt; --server-port 9999
또는 python student\my_submission.py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rgbClr val="A26769"/>
                </a:solidFill>
                <a:latin typeface="Malgun Gothic"/>
              </a:rPr>
              <a:t>Appendix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관측</a:t>
            </a:r>
            <a:r>
              <a:rPr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3000" b="1" i="0" dirty="0" err="1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일관성</a:t>
            </a:r>
            <a:endParaRPr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8000" y="1460500"/>
            <a:ext cx="1940560" cy="762000"/>
          </a:xfrm>
          <a:prstGeom prst="roundRect">
            <a:avLst>
              <a:gd name="adj" fmla="val 11666"/>
            </a:avLst>
          </a:prstGeom>
          <a:solidFill>
            <a:srgbClr val="2BB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6100" y="1460500"/>
            <a:ext cx="1864360" cy="76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2060" y="1460500"/>
            <a:ext cx="2413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860" y="1460500"/>
            <a:ext cx="1940560" cy="762000"/>
          </a:xfrm>
          <a:prstGeom prst="roundRect">
            <a:avLst>
              <a:gd name="adj" fmla="val 11666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4960" y="1460500"/>
            <a:ext cx="1864360" cy="76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0920" y="1460500"/>
            <a:ext cx="2413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5720" y="1460500"/>
            <a:ext cx="1940560" cy="762000"/>
          </a:xfrm>
          <a:prstGeom prst="roundRect">
            <a:avLst>
              <a:gd name="adj" fmla="val 11666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3820" y="1460500"/>
            <a:ext cx="1864360" cy="76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9780" y="1460500"/>
            <a:ext cx="2413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4580" y="1460500"/>
            <a:ext cx="1940560" cy="762000"/>
          </a:xfrm>
          <a:prstGeom prst="roundRect">
            <a:avLst>
              <a:gd name="adj" fmla="val 11666"/>
            </a:avLst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2680" y="1460500"/>
            <a:ext cx="1864360" cy="76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8640" y="1460500"/>
            <a:ext cx="2413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54606C"/>
                </a:solidFill>
                <a:latin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43440" y="1460500"/>
            <a:ext cx="1940560" cy="762000"/>
          </a:xfrm>
          <a:prstGeom prst="roundRect">
            <a:avLst>
              <a:gd name="adj" fmla="val 11666"/>
            </a:avLst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1540" y="1460500"/>
            <a:ext cx="1864360" cy="762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algun Gothic"/>
              </a:rPr>
              <a:t>submission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" y="2603500"/>
            <a:ext cx="3008923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6900" y="2638342"/>
            <a:ext cx="2831123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위치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16923" y="2603500"/>
            <a:ext cx="4298462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05823" y="2638342"/>
            <a:ext cx="4120662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확인할 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5385" y="2603500"/>
            <a:ext cx="3868615" cy="3429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4285" y="2638342"/>
            <a:ext cx="3690815" cy="273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</a:rPr>
              <a:t>불일치 위험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2946400"/>
            <a:ext cx="3008923" cy="4699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596900" y="3068851"/>
            <a:ext cx="283112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YAML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6923" y="2946400"/>
            <a:ext cx="4298462" cy="4699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3605823" y="3068851"/>
            <a:ext cx="4120662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env.observation_mode / observation_module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5385" y="2946400"/>
            <a:ext cx="3868615" cy="4699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34" name="TextBox 33"/>
          <p:cNvSpPr txBox="1"/>
          <p:nvPr/>
        </p:nvSpPr>
        <p:spPr>
          <a:xfrm>
            <a:off x="7904285" y="3068851"/>
            <a:ext cx="3690815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학습 조건 기록 오류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8000" y="3416300"/>
            <a:ext cx="3008923" cy="4699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36" name="TextBox 35"/>
          <p:cNvSpPr txBox="1"/>
          <p:nvPr/>
        </p:nvSpPr>
        <p:spPr>
          <a:xfrm>
            <a:off x="596900" y="3538751"/>
            <a:ext cx="283112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train_rllib.py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16923" y="3416300"/>
            <a:ext cx="4298462" cy="4699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38" name="TextBox 37"/>
          <p:cNvSpPr txBox="1"/>
          <p:nvPr/>
        </p:nvSpPr>
        <p:spPr>
          <a:xfrm>
            <a:off x="3605823" y="3538751"/>
            <a:ext cx="4120662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--observation-mode / --observation-module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5385" y="3416300"/>
            <a:ext cx="3868615" cy="4699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40" name="TextBox 39"/>
          <p:cNvSpPr txBox="1"/>
          <p:nvPr/>
        </p:nvSpPr>
        <p:spPr>
          <a:xfrm>
            <a:off x="7904285" y="3538751"/>
            <a:ext cx="3690815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학습 입력 차원 불일치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8000" y="3886200"/>
            <a:ext cx="3008923" cy="4699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42" name="TextBox 41"/>
          <p:cNvSpPr txBox="1"/>
          <p:nvPr/>
        </p:nvSpPr>
        <p:spPr>
          <a:xfrm>
            <a:off x="596900" y="4008651"/>
            <a:ext cx="283112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metadata.json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16923" y="3886200"/>
            <a:ext cx="4298462" cy="4699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44" name="TextBox 43"/>
          <p:cNvSpPr txBox="1"/>
          <p:nvPr/>
        </p:nvSpPr>
        <p:spPr>
          <a:xfrm>
            <a:off x="3605823" y="4008651"/>
            <a:ext cx="4120662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obs_mode / observation_module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5385" y="3886200"/>
            <a:ext cx="3868615" cy="4699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46" name="TextBox 45"/>
          <p:cNvSpPr txBox="1"/>
          <p:nvPr/>
        </p:nvSpPr>
        <p:spPr>
          <a:xfrm>
            <a:off x="7904285" y="4008651"/>
            <a:ext cx="3690815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bundle 해석 오류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8000" y="4356100"/>
            <a:ext cx="3008923" cy="4699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48" name="TextBox 47"/>
          <p:cNvSpPr txBox="1"/>
          <p:nvPr/>
        </p:nvSpPr>
        <p:spPr>
          <a:xfrm>
            <a:off x="596900" y="4478551"/>
            <a:ext cx="283112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run_local_dogfight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6923" y="4356100"/>
            <a:ext cx="4298462" cy="4699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50" name="TextBox 49"/>
          <p:cNvSpPr txBox="1"/>
          <p:nvPr/>
        </p:nvSpPr>
        <p:spPr>
          <a:xfrm>
            <a:off x="3605823" y="4478551"/>
            <a:ext cx="4120662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--observation-mode / --observation-module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5385" y="4356100"/>
            <a:ext cx="3868615" cy="469900"/>
          </a:xfrm>
          <a:prstGeom prst="rect">
            <a:avLst/>
          </a:prstGeom>
          <a:solidFill>
            <a:srgbClr val="F4F8FB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52" name="TextBox 51"/>
          <p:cNvSpPr txBox="1"/>
          <p:nvPr/>
        </p:nvSpPr>
        <p:spPr>
          <a:xfrm>
            <a:off x="7904285" y="4478551"/>
            <a:ext cx="3690815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로컬 성능 왜곡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8000" y="4826000"/>
            <a:ext cx="3008923" cy="4699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54" name="TextBox 53"/>
          <p:cNvSpPr txBox="1"/>
          <p:nvPr/>
        </p:nvSpPr>
        <p:spPr>
          <a:xfrm>
            <a:off x="596900" y="4948451"/>
            <a:ext cx="2831123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my_submission.py / CLI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16923" y="4826000"/>
            <a:ext cx="4298462" cy="4699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56" name="TextBox 55"/>
          <p:cNvSpPr txBox="1"/>
          <p:nvPr/>
        </p:nvSpPr>
        <p:spPr>
          <a:xfrm>
            <a:off x="3605823" y="4948451"/>
            <a:ext cx="4120662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OBSERVATION_MODE / OBSERVATION_MODULE
BT_RULE_XML / ACTION_REPEAT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15385" y="4826000"/>
            <a:ext cx="3868615" cy="4699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sz="1600"/>
          </a:p>
        </p:txBody>
      </p:sp>
      <p:sp>
        <p:nvSpPr>
          <p:cNvPr id="58" name="TextBox 57"/>
          <p:cNvSpPr txBox="1"/>
          <p:nvPr/>
        </p:nvSpPr>
        <p:spPr>
          <a:xfrm>
            <a:off x="7904285" y="4948451"/>
            <a:ext cx="3690815" cy="224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B2733"/>
                </a:solidFill>
                <a:latin typeface="Malgun Gothic"/>
              </a:rPr>
              <a:t>제출 추론 입력 또는 BT 자산 불일치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A98F3D3E-DA7B-9909-8F87-F650630837EC}"/>
              </a:ext>
            </a:extLst>
          </p:cNvPr>
          <p:cNvSpPr txBox="1"/>
          <p:nvPr/>
        </p:nvSpPr>
        <p:spPr>
          <a:xfrm>
            <a:off x="508000" y="368300"/>
            <a:ext cx="5715000" cy="215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800" b="1" i="0" dirty="0">
                <a:solidFill>
                  <a:srgbClr val="A26769"/>
                </a:solidFill>
                <a:latin typeface="Malgun Gothic"/>
              </a:rPr>
              <a:t>Appendix 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C332F7-97D2-689D-2FA3-8833D6AF6A6C}"/>
              </a:ext>
            </a:extLst>
          </p:cNvPr>
          <p:cNvSpPr txBox="1"/>
          <p:nvPr/>
        </p:nvSpPr>
        <p:spPr>
          <a:xfrm>
            <a:off x="508000" y="685800"/>
            <a:ext cx="10414000" cy="463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3000" b="1" i="0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SAC LSTM </a:t>
            </a:r>
            <a:r>
              <a:rPr lang="ko-KR" altLang="en-US" sz="3000" b="1" dirty="0">
                <a:solidFill>
                  <a:srgbClr val="1B2733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패치 적용</a:t>
            </a:r>
            <a:endParaRPr lang="ko-KR" altLang="en-US" sz="3000" b="1" i="0" dirty="0">
              <a:solidFill>
                <a:srgbClr val="1B2733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6D3DF2B1-6B0C-6A69-2C3D-28A77096C23F}"/>
              </a:ext>
            </a:extLst>
          </p:cNvPr>
          <p:cNvSpPr/>
          <p:nvPr/>
        </p:nvSpPr>
        <p:spPr>
          <a:xfrm>
            <a:off x="508000" y="1460500"/>
            <a:ext cx="3632200" cy="2413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D3152E-2D77-21F2-8499-0FA2F4C2D8D1}"/>
              </a:ext>
            </a:extLst>
          </p:cNvPr>
          <p:cNvSpPr txBox="1"/>
          <p:nvPr/>
        </p:nvSpPr>
        <p:spPr>
          <a:xfrm>
            <a:off x="647700" y="1574800"/>
            <a:ext cx="33528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200" b="1" dirty="0">
                <a:solidFill>
                  <a:srgbClr val="065A82"/>
                </a:solidFill>
                <a:latin typeface="Malgun Gothic"/>
              </a:rPr>
              <a:t>기본 경로
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/>
              </a:rPr>
              <a:t>student_sac_mlp.yaml
student_ppo_mlp.yaml
mixed initial은 별도 예시</a:t>
            </a:r>
            <a:endParaRPr i="0" dirty="0">
              <a:solidFill>
                <a:schemeClr val="tx1">
                  <a:lumMod val="95000"/>
                  <a:lumOff val="5000"/>
                </a:schemeClr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lang="en-US" altLang="ko-KR" sz="18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lang="en-US" altLang="ko-KR" sz="1800" b="0" i="0" dirty="0">
              <a:solidFill>
                <a:srgbClr val="1B273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sz="18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94B2D15D-EDF2-8D81-DEB0-1B71F32A8BA7}"/>
              </a:ext>
            </a:extLst>
          </p:cNvPr>
          <p:cNvSpPr/>
          <p:nvPr/>
        </p:nvSpPr>
        <p:spPr>
          <a:xfrm>
            <a:off x="4279900" y="1460500"/>
            <a:ext cx="3632200" cy="2413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A89CC9-7BCB-C670-EDC5-9D093D770FD6}"/>
              </a:ext>
            </a:extLst>
          </p:cNvPr>
          <p:cNvSpPr txBox="1"/>
          <p:nvPr/>
        </p:nvSpPr>
        <p:spPr>
          <a:xfrm>
            <a:off x="4419600" y="1574800"/>
            <a:ext cx="33528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200" b="1" i="0" dirty="0">
                <a:solidFill>
                  <a:srgbClr val="1C7293"/>
                </a:solidFill>
                <a:latin typeface="Malgun Gothic"/>
              </a:rPr>
              <a:t>패치 적용
</a:t>
            </a:r>
            <a:r>
              <a:rPr lang="ko-KR" altLang="en-US" i="0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/>
              </a:rPr>
              <a:t>RLLibLstm/tools/apply_rllib_sac_lstm_patch.py
Ray 2.54.0 site-packages 확인 후 적용</a:t>
            </a:r>
            <a:endParaRPr lang="en-US" i="0" dirty="0">
              <a:solidFill>
                <a:schemeClr val="tx1">
                  <a:lumMod val="95000"/>
                  <a:lumOff val="5000"/>
                </a:schemeClr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lang="en-US" sz="2200" b="1" i="0" dirty="0">
              <a:solidFill>
                <a:srgbClr val="1C7293"/>
              </a:solidFill>
              <a:latin typeface="Malgun Gothic"/>
            </a:endParaRP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endParaRPr sz="1800" b="0" i="0" dirty="0">
              <a:solidFill>
                <a:srgbClr val="1B2733"/>
              </a:solidFill>
              <a:latin typeface="Malgun Gothic"/>
            </a:endParaRP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0433421E-F750-3CA4-C28B-EEDE117292CA}"/>
              </a:ext>
            </a:extLst>
          </p:cNvPr>
          <p:cNvSpPr/>
          <p:nvPr/>
        </p:nvSpPr>
        <p:spPr>
          <a:xfrm>
            <a:off x="8051800" y="1460500"/>
            <a:ext cx="3632200" cy="2413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9CB092-C2F7-6CF6-4B05-42E285653524}"/>
              </a:ext>
            </a:extLst>
          </p:cNvPr>
          <p:cNvSpPr txBox="1"/>
          <p:nvPr/>
        </p:nvSpPr>
        <p:spPr>
          <a:xfrm>
            <a:off x="8191500" y="1574800"/>
            <a:ext cx="3352800" cy="218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200" b="1" i="0" dirty="0">
                <a:solidFill>
                  <a:srgbClr val="1F8A5F"/>
                </a:solidFill>
                <a:latin typeface="Malgun Gothic"/>
              </a:rPr>
              <a:t>RNNSAC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altLang="ko-KR" sz="1800" b="0" i="0" dirty="0">
                <a:solidFill>
                  <a:srgbClr val="1B2733"/>
                </a:solidFill>
                <a:latin typeface="Malgun Gothic"/>
              </a:rPr>
              <a:t>`</a:t>
            </a:r>
            <a:r>
              <a:rPr lang="en-US" altLang="ko-KR" sz="1800" b="0" i="0" dirty="0" err="1">
                <a:solidFill>
                  <a:srgbClr val="1B2733"/>
                </a:solidFill>
                <a:latin typeface="Malgun Gothic"/>
              </a:rPr>
              <a:t>actor_only</a:t>
            </a:r>
            <a:r>
              <a:rPr lang="en-US" altLang="ko-KR" sz="1800" b="0" i="0" dirty="0">
                <a:solidFill>
                  <a:srgbClr val="1B2733"/>
                </a:solidFill>
                <a:latin typeface="Malgun Gothic"/>
              </a:rPr>
              <a:t>`: actor LSTM+MLP Q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altLang="ko-KR" sz="1800" b="0" i="0" dirty="0">
                <a:solidFill>
                  <a:srgbClr val="1B2733"/>
                </a:solidFill>
                <a:latin typeface="Malgun Gothic"/>
              </a:rPr>
              <a:t>`</a:t>
            </a:r>
            <a:r>
              <a:rPr lang="en-US" altLang="ko-KR" sz="1800" b="0" i="0" dirty="0" err="1">
                <a:solidFill>
                  <a:srgbClr val="1B2733"/>
                </a:solidFill>
                <a:latin typeface="Malgun Gothic"/>
              </a:rPr>
              <a:t>actor_critic</a:t>
            </a:r>
            <a:r>
              <a:rPr lang="en-US" altLang="ko-KR" sz="1800" b="0" i="0" dirty="0">
                <a:solidFill>
                  <a:srgbClr val="1B2733"/>
                </a:solidFill>
                <a:latin typeface="Malgun Gothic"/>
              </a:rPr>
              <a:t>`: recurrent Q/twin/target Q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altLang="ko-KR" sz="1800" b="0" i="0" dirty="0">
                <a:solidFill>
                  <a:srgbClr val="1B2733"/>
                </a:solidFill>
                <a:latin typeface="Malgun Gothic"/>
              </a:rPr>
              <a:t>`sequence_v1`: YAML layer sequence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endParaRPr lang="ko-KR" altLang="en-US" sz="1800" b="0" i="0" dirty="0">
              <a:solidFill>
                <a:srgbClr val="1B2733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3827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3055</Words>
  <Application>Microsoft Office PowerPoint</Application>
  <PresentationFormat>와이드스크린</PresentationFormat>
  <Paragraphs>569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4" baseType="lpstr">
      <vt:lpstr>HY견고딕</vt:lpstr>
      <vt:lpstr>Malgun Gothic</vt:lpstr>
      <vt:lpstr>Arial</vt:lpstr>
      <vt:lpstr>Calibri</vt:lpstr>
      <vt:lpstr>Cascadia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hyeongkil joo</cp:lastModifiedBy>
  <cp:revision>21</cp:revision>
  <dcterms:created xsi:type="dcterms:W3CDTF">2013-01-27T09:14:16Z</dcterms:created>
  <dcterms:modified xsi:type="dcterms:W3CDTF">2026-05-20T11:01:15Z</dcterms:modified>
  <cp:category/>
</cp:coreProperties>
</file>